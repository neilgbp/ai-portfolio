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[NEIL] Hey everyone — we're Neil and India from SAP. We have 30 minutes and we're going to use all of it. By the time we're done, every one of you will have a real AI-generated portfolio page — the kind you can link to on a college application or LinkedIn. No coding experience, no software to install, nothing to pay for. Two free tools. Let's go.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[NEIL or INDIA] Quick map of the morning. You've already done the first two blocks. We're the orange one — the hands-on build. After us: a responsible AI segment, then closing. Our 30 minutes. Everything we're doing is built on two free tools: Google Gemini for the AI, and GitHub to host the website. You've probably heard of both. You're about to use them together to build something real.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[INDIA] Here's our 30 minutes. Five minutes warming up, five on AI and careers, fifteen minutes building — that's the main event — and five minutes to share. The key idea on this slide: employers don't care that you went to school. They want to see what you built. A portfolio page with your actual name, skills, and career thinking? That stands out from every other applicant who just submits a transcript.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[NEIL] Show of hands — who's thinking about healthcare? Business? Creative work? Sports? Engineering? [pause] Here's what's true for every one of those fields: AI is already in them. AI reads medical scans faster than any one doctor. AI writes contracts and runs financial models in seconds. AI generates music, images, video. AI tracks athlete performance in real time and predicts injuries before they happen. AI designs physical structures and simulates climate systems. This isn't a future thing — it's happening now. The students who learn to work WITH AI, not just use it, will have a real edge. That's what we're showing you today.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[NEIL] Before we touch anything, here's exactly what's about to happen. Four steps. You fill in four things about yourself — your grade, school, one activity, and a career you're curious about. That goes into Google Gemini as a prompt. Gemini reads it and writes a complete website — not just text, the actual code for a real webpage. Then you paste that code into GitHub, which is a free file-hosting service used by millions of developers. Flip one switch to turn on GitHub Pages, and your portfolio is live at a real URL. No coding. No command line. No credit card. That's the whole system.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[INDIA] Here's what you're walking away with. Step one: four fields, 30 seconds. Step two — this is the part people usually don't believe until they see it — Gemini writes the ENTIRE website for you. Not just your bio. The HTML, the CSS, the layout, the design — a fully working webpage, ready to publish. Step three: tonight, paste one file into GitHub and your portfolio is live at a real URL. Free. No expiration. Yours to share anywhere.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[NEIL] Let's walk through all ten steps before we do them so nothing surprises you. Left column is what we're doing right now — five steps, about 15 minutes. Open Gemini, use the prompt on slide 8, fill in your four fields, run it, copy the output. Right column is tonight — five more steps, about 5 minutes. Create a free GitHub account, make a new public repo, create a file called index.html, paste your HTML, and turn on Pages. We'll walk through the right column again at the end. For now — let's start on the left.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[INDIA] This is the prompt. See the orange brackets? Those are the four things you fill in. Your grade — like '10th grade'. Your school name. One activity — a job, a sport, a club, anything you do outside school. And a career field you're curious about. That's it. Fill in the four orange parts, paste the whole thing into gemini.google.com, hit Enter. The last line is key — it tells Gemini to return ONLY the HTML code, so you get a clean file you can paste directly into GitHub with nothing to edit. [Point at slide] Read it once, then fill in your own info. Don't overthink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[NEIL — LIVE DEMO] Watch this once — I'm going to run through the full flow live so you can see every step before you try it yourself.</a:t>
            </a:r>
          </a:p>
          <a:p/>
          <a:p>
            <a:r>
              <a:t>GEMINI STEPS:</a:t>
            </a:r>
          </a:p>
          <a:p>
            <a:r>
              <a:t>- Open gemini.google.com in the browser</a:t>
            </a:r>
          </a:p>
          <a:p>
            <a:r>
              <a:t>- Paste the prompt with real info filled in (use your own grade/school/activity/career)</a:t>
            </a:r>
          </a:p>
          <a:p>
            <a:r>
              <a:t>- Show the HTML output scrolling — say: 'See this? This is a complete webpage. Gemini just wrote it in about 10 seconds.'</a:t>
            </a:r>
          </a:p>
          <a:p>
            <a:r>
              <a:t>- Select all (Ctrl+A), Copy (Ctrl+C)</a:t>
            </a:r>
          </a:p>
          <a:p/>
          <a:p>
            <a:r>
              <a:t>GITHUB STEPS:</a:t>
            </a:r>
          </a:p>
          <a:p>
            <a:r>
              <a:t>- Go to github.com — say: 'This is just a website, no software to install'</a:t>
            </a:r>
          </a:p>
          <a:p>
            <a:r>
              <a:t>- Click + &gt; New repository &gt; name it 'portfolio' &gt; Public &gt; Create repository</a:t>
            </a:r>
          </a:p>
          <a:p>
            <a:r>
              <a:t>- Click Add file &gt; Create new file &gt; type 'index.html'</a:t>
            </a:r>
          </a:p>
          <a:p>
            <a:r>
              <a:t>- Paste the HTML &gt; scroll down &gt; click Commit changes</a:t>
            </a:r>
          </a:p>
          <a:p>
            <a:r>
              <a:t>- Settings &gt; Pages &gt; Source: main &gt; Save</a:t>
            </a:r>
          </a:p>
          <a:p>
            <a:r>
              <a:t>- Wait ~60 seconds, show the live URL</a:t>
            </a:r>
          </a:p>
          <a:p/>
          <a:p>
            <a:r>
              <a:t>Say: 'That's a real website. Anyone with that URL can see it. Now you do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[INDIA] Five minutes. Open Gemini on your phone or laptop — gemini.google.com. Go to slide 8 for the prompt, fill in your four fields with real info, run it, and copy all the HTML output. That's everything you need to do right now. If you get stuck at any point, raise your hand — we have SAP team members in the room. Don't worry about it being perfect. You can always regenerate with different info later.</a:t>
            </a:r>
          </a:p>
          <a:p/>
          <a:p>
            <a:r>
              <a:t>[NEIL — while students work] If you finish early, go back into Gemini and try a different career field. See how the portfolio changes. Or try making the prompt more specific — add your GPA, a specific club role, a specific company you want to work for.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[NEIL] You've got the HTML — the hard part is done. Tonight, five steps to get it live. One: create a free GitHub account at github.com. Any email, takes two minutes. Two: click the plus sign at top right, create a new repository, make it Public, hit Create. Three: click Add file, Create new file, and name it exactly 'index.html' — lowercase, spelling matters, that exact filename. Four: paste your entire HTML from Gemini into the file editor, scroll to the bottom, click Commit changes. Five: go to Settings, then Pages, set Source to 'main', click Save. Wait about 60 seconds. Your URL appears — yourname.github.io/your-repo-name. Screenshot it. Put it in your college applications, your LinkedIn, your email signature. It's yours and it's free forever.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[INDIA] What you just did isn't a party trick. You gave an AI the right instructions, it produced professional output, and you can deploy it to the real internet. That is the same workflow a product manager, a marketing director, a healthcare analyst, or a startup founder uses today. The skill employers are paying for isn't knowing how to code. It's knowing what to ask, knowing how to judge what comes back, and knowing when to trust it and when to question it. You just practiced that.</a:t>
            </a:r>
          </a:p>
          <a:p/>
          <a:p>
            <a:r>
              <a:t>[NEIL] Everything from today is at github.com/neilgbp/ai-portfolio — the prompts, the deployment steps, all of it. Free. Grab it. And if you want to connect on LinkedIn or have questions later, find us. You've got this. Go build something.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DF1FB"/>
        </a:solidFill>
        <a:effectLst/>
      </p:bgPr>
    </p:bg>
    <p:spTree>
      <p:nvGrpSpPr>
        <p:cNvPr id="1" name=""/>
        <p:cNvGrpSpPr/>
        <p:nvPr/>
      </p:nvGrpSpPr>
      <p:grpSpPr/>
      <p:sp>
        <p:nvSpPr>
          <p:cNvPr id="2" name="Rectangle 1"/>
          <p:cNvSpPr/>
          <p:nvPr/>
        </p:nvSpPr>
        <p:spPr>
          <a:xfrm>
            <a:off x="0" y="0"/>
            <a:ext cx="6094476" cy="50800"/>
          </a:xfrm>
          <a:prstGeom prst="rect">
            <a:avLst/>
          </a:prstGeom>
          <a:solidFill>
            <a:srgbClr val="0055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4476" y="0"/>
            <a:ext cx="6094476" cy="5080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807200"/>
            <a:ext cx="12188952" cy="5080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354312" y="502920"/>
            <a:ext cx="1005840" cy="355600"/>
          </a:xfrm>
          <a:prstGeom prst="rect">
            <a:avLst/>
          </a:prstGeom>
          <a:solidFill>
            <a:srgbClr val="0055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54312" y="502920"/>
            <a:ext cx="1005840" cy="355600"/>
          </a:xfrm>
          <a:prstGeom prst="rect">
            <a:avLst/>
          </a:prstGeom>
          <a:noFill/>
        </p:spPr>
        <p:txBody>
          <a:bodyPr wrap="none">
            <a:spAutoFit/>
          </a:bodyPr>
          <a:lstStyle/>
          <a:p/>
          <a:p>
            <a:pPr algn="ctr"/>
            <a:r>
              <a:rPr sz="1300" b="1" i="0">
                <a:solidFill>
                  <a:srgbClr val="FFFFFF"/>
                </a:solidFill>
                <a:latin typeface="Calibri"/>
              </a:rPr>
              <a:t>SAP</a:t>
            </a:r>
          </a:p>
        </p:txBody>
      </p:sp>
      <p:sp>
        <p:nvSpPr>
          <p:cNvPr id="7" name="Rectangle 6"/>
          <p:cNvSpPr/>
          <p:nvPr/>
        </p:nvSpPr>
        <p:spPr>
          <a:xfrm>
            <a:off x="10360152" y="502920"/>
            <a:ext cx="1371600" cy="35560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360152" y="502920"/>
            <a:ext cx="1371600" cy="355600"/>
          </a:xfrm>
          <a:prstGeom prst="rect">
            <a:avLst/>
          </a:prstGeom>
          <a:noFill/>
        </p:spPr>
        <p:txBody>
          <a:bodyPr wrap="none">
            <a:spAutoFit/>
          </a:bodyPr>
          <a:lstStyle/>
          <a:p/>
          <a:p>
            <a:pPr algn="ctr"/>
            <a:r>
              <a:rPr sz="800" b="1" i="0">
                <a:solidFill>
                  <a:srgbClr val="FFFFFF"/>
                </a:solidFill>
                <a:latin typeface="Calibri"/>
              </a:rPr>
              <a:t>NBMBAA LOT</a:t>
            </a:r>
          </a:p>
        </p:txBody>
      </p:sp>
      <p:sp>
        <p:nvSpPr>
          <p:cNvPr id="9" name="TextBox 8"/>
          <p:cNvSpPr txBox="1"/>
          <p:nvPr/>
        </p:nvSpPr>
        <p:spPr>
          <a:xfrm>
            <a:off x="640080" y="594360"/>
            <a:ext cx="4572000" cy="279400"/>
          </a:xfrm>
          <a:prstGeom prst="rect">
            <a:avLst/>
          </a:prstGeom>
          <a:noFill/>
        </p:spPr>
        <p:txBody>
          <a:bodyPr wrap="none">
            <a:spAutoFit/>
          </a:bodyPr>
          <a:lstStyle/>
          <a:p/>
          <a:p>
            <a:pPr algn="l"/>
            <a:r>
              <a:rPr sz="900" b="1" i="0">
                <a:solidFill>
                  <a:srgbClr val="4E5B78"/>
                </a:solidFill>
                <a:latin typeface="Calibri"/>
              </a:rPr>
              <a:t>NBMBAA(R) LOT x SAP</a:t>
            </a:r>
          </a:p>
        </p:txBody>
      </p:sp>
      <p:sp>
        <p:nvSpPr>
          <p:cNvPr id="10" name="TextBox 9"/>
          <p:cNvSpPr txBox="1"/>
          <p:nvPr/>
        </p:nvSpPr>
        <p:spPr>
          <a:xfrm>
            <a:off x="640080" y="1280160"/>
            <a:ext cx="8229600" cy="2926080"/>
          </a:xfrm>
          <a:prstGeom prst="rect">
            <a:avLst/>
          </a:prstGeom>
          <a:noFill/>
        </p:spPr>
        <p:txBody>
          <a:bodyPr wrap="square">
            <a:spAutoFit/>
          </a:bodyPr>
          <a:lstStyle/>
          <a:p/>
          <a:p>
            <a:pPr algn="l"/>
            <a:r>
              <a:rPr sz="8000" b="0" i="0">
                <a:solidFill>
                  <a:srgbClr val="0A0E20"/>
                </a:solidFill>
                <a:latin typeface="Georgia"/>
              </a:rPr>
              <a:t>Build Your</a:t>
            </a:r>
          </a:p>
          <a:p>
            <a:pPr algn="l"/>
            <a:r>
              <a:rPr sz="8000" b="0" i="0">
                <a:solidFill>
                  <a:srgbClr val="D97706"/>
                </a:solidFill>
                <a:latin typeface="Georgia"/>
              </a:rPr>
              <a:t>AI-Powered</a:t>
            </a:r>
          </a:p>
          <a:p>
            <a:pPr algn="l"/>
            <a:r>
              <a:rPr sz="8000" b="0" i="0">
                <a:solidFill>
                  <a:srgbClr val="0A0E20"/>
                </a:solidFill>
                <a:latin typeface="Georgia"/>
              </a:rPr>
              <a:t>Career Portfolio</a:t>
            </a:r>
          </a:p>
        </p:txBody>
      </p:sp>
      <p:sp>
        <p:nvSpPr>
          <p:cNvPr id="11" name="TextBox 10"/>
          <p:cNvSpPr txBox="1"/>
          <p:nvPr/>
        </p:nvSpPr>
        <p:spPr>
          <a:xfrm>
            <a:off x="640080" y="5760720"/>
            <a:ext cx="8229600" cy="279400"/>
          </a:xfrm>
          <a:prstGeom prst="rect">
            <a:avLst/>
          </a:prstGeom>
          <a:noFill/>
        </p:spPr>
        <p:txBody>
          <a:bodyPr wrap="none">
            <a:spAutoFit/>
          </a:bodyPr>
          <a:lstStyle/>
          <a:p/>
          <a:p>
            <a:pPr algn="l"/>
            <a:r>
              <a:rPr sz="1100" b="0" i="0">
                <a:solidFill>
                  <a:srgbClr val="4E5B78"/>
                </a:solidFill>
                <a:latin typeface="Calibri"/>
              </a:rPr>
              <a:t>October 17, 2026  .  Atlanta  .  Powered by Google Gemini &amp; GitHub Pages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DF1FB"/>
        </a:solidFill>
        <a:effectLst/>
      </p:bgPr>
    </p:bg>
    <p:spTree>
      <p:nvGrpSpPr>
        <p:cNvPr id="1" name=""/>
        <p:cNvGrpSpPr/>
        <p:nvPr/>
      </p:nvGrpSpPr>
      <p:grpSpPr/>
      <p:sp>
        <p:nvSpPr>
          <p:cNvPr id="2" name="Rectangle 1"/>
          <p:cNvSpPr/>
          <p:nvPr/>
        </p:nvSpPr>
        <p:spPr>
          <a:xfrm>
            <a:off x="0" y="0"/>
            <a:ext cx="6094476" cy="50800"/>
          </a:xfrm>
          <a:prstGeom prst="rect">
            <a:avLst/>
          </a:prstGeom>
          <a:solidFill>
            <a:srgbClr val="0055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4476" y="0"/>
            <a:ext cx="6094476" cy="5080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10972800" cy="228600"/>
          </a:xfrm>
          <a:prstGeom prst="rect">
            <a:avLst/>
          </a:prstGeom>
          <a:noFill/>
        </p:spPr>
        <p:txBody>
          <a:bodyPr wrap="none">
            <a:spAutoFit/>
          </a:bodyPr>
          <a:lstStyle/>
          <a:p/>
          <a:p>
            <a:pPr algn="l"/>
            <a:r>
              <a:rPr sz="900" b="1" i="0">
                <a:solidFill>
                  <a:srgbClr val="0055CC"/>
                </a:solidFill>
                <a:latin typeface="Calibri"/>
              </a:rPr>
              <a:t>FULL EVENT -- TODAY'S SCHEDULE</a:t>
            </a:r>
          </a:p>
        </p:txBody>
      </p:sp>
      <p:sp>
        <p:nvSpPr>
          <p:cNvPr id="5" name="TextBox 4"/>
          <p:cNvSpPr txBox="1"/>
          <p:nvPr/>
        </p:nvSpPr>
        <p:spPr>
          <a:xfrm>
            <a:off x="640080" y="777240"/>
            <a:ext cx="9144000" cy="1828800"/>
          </a:xfrm>
          <a:prstGeom prst="rect">
            <a:avLst/>
          </a:prstGeom>
          <a:noFill/>
        </p:spPr>
        <p:txBody>
          <a:bodyPr wrap="square">
            <a:spAutoFit/>
          </a:bodyPr>
          <a:lstStyle/>
          <a:p/>
          <a:p>
            <a:pPr algn="l"/>
            <a:r>
              <a:rPr sz="4400" b="0" i="0">
                <a:solidFill>
                  <a:srgbClr val="0A0E20"/>
                </a:solidFill>
                <a:latin typeface="Georgia"/>
              </a:rPr>
              <a:t>The Big Picture</a:t>
            </a:r>
          </a:p>
        </p:txBody>
      </p:sp>
      <p:sp>
        <p:nvSpPr>
          <p:cNvPr id="6" name="Rectangle 5"/>
          <p:cNvSpPr/>
          <p:nvPr/>
        </p:nvSpPr>
        <p:spPr>
          <a:xfrm>
            <a:off x="640080" y="1783080"/>
            <a:ext cx="658368" cy="3810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920240"/>
            <a:ext cx="2084831" cy="3474720"/>
          </a:xfrm>
          <a:prstGeom prst="rect">
            <a:avLst/>
          </a:prstGeom>
          <a:solidFill>
            <a:srgbClr val="FFFFFF"/>
          </a:solidFill>
          <a:ln w="9525">
            <a:solidFill>
              <a:srgbClr val="C4D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920240"/>
            <a:ext cx="2084831" cy="31750"/>
          </a:xfrm>
          <a:prstGeom prst="rect">
            <a:avLst/>
          </a:prstGeom>
          <a:solidFill>
            <a:srgbClr val="6B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7080" y="2047240"/>
            <a:ext cx="1830831" cy="228600"/>
          </a:xfrm>
          <a:prstGeom prst="rect">
            <a:avLst/>
          </a:prstGeom>
          <a:noFill/>
        </p:spPr>
        <p:txBody>
          <a:bodyPr wrap="none">
            <a:spAutoFit/>
          </a:bodyPr>
          <a:lstStyle/>
          <a:p/>
          <a:p>
            <a:pPr algn="l"/>
            <a:r>
              <a:rPr sz="900" b="1" i="0">
                <a:solidFill>
                  <a:srgbClr val="4E5B78"/>
                </a:solidFill>
                <a:latin typeface="Calibri"/>
              </a:rPr>
              <a:t>30 MIN</a:t>
            </a:r>
          </a:p>
        </p:txBody>
      </p:sp>
      <p:sp>
        <p:nvSpPr>
          <p:cNvPr id="10" name="TextBox 9"/>
          <p:cNvSpPr txBox="1"/>
          <p:nvPr/>
        </p:nvSpPr>
        <p:spPr>
          <a:xfrm>
            <a:off x="767080" y="2326640"/>
            <a:ext cx="1830831" cy="635000"/>
          </a:xfrm>
          <a:prstGeom prst="rect">
            <a:avLst/>
          </a:prstGeom>
          <a:noFill/>
        </p:spPr>
        <p:txBody>
          <a:bodyPr wrap="square">
            <a:spAutoFit/>
          </a:bodyPr>
          <a:lstStyle/>
          <a:p/>
          <a:p>
            <a:pPr algn="l"/>
            <a:r>
              <a:rPr sz="1300" b="1" i="0">
                <a:solidFill>
                  <a:srgbClr val="0A0E20"/>
                </a:solidFill>
                <a:latin typeface="Calibri"/>
              </a:rPr>
              <a:t>AI Exploration
Gamefied</a:t>
            </a:r>
          </a:p>
        </p:txBody>
      </p:sp>
      <p:sp>
        <p:nvSpPr>
          <p:cNvPr id="11" name="Rectangle 10"/>
          <p:cNvSpPr/>
          <p:nvPr/>
        </p:nvSpPr>
        <p:spPr>
          <a:xfrm>
            <a:off x="2871215" y="1920240"/>
            <a:ext cx="2084831" cy="3474720"/>
          </a:xfrm>
          <a:prstGeom prst="rect">
            <a:avLst/>
          </a:prstGeom>
          <a:solidFill>
            <a:srgbClr val="FFFFFF"/>
          </a:solidFill>
          <a:ln w="9525">
            <a:solidFill>
              <a:srgbClr val="C4D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871215" y="1920240"/>
            <a:ext cx="2084831" cy="31750"/>
          </a:xfrm>
          <a:prstGeom prst="rect">
            <a:avLst/>
          </a:prstGeom>
          <a:solidFill>
            <a:srgbClr val="6B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98215" y="2047240"/>
            <a:ext cx="1830831" cy="228600"/>
          </a:xfrm>
          <a:prstGeom prst="rect">
            <a:avLst/>
          </a:prstGeom>
          <a:noFill/>
        </p:spPr>
        <p:txBody>
          <a:bodyPr wrap="none">
            <a:spAutoFit/>
          </a:bodyPr>
          <a:lstStyle/>
          <a:p/>
          <a:p>
            <a:pPr algn="l"/>
            <a:r>
              <a:rPr sz="900" b="1" i="0">
                <a:solidFill>
                  <a:srgbClr val="4E5B78"/>
                </a:solidFill>
                <a:latin typeface="Calibri"/>
              </a:rPr>
              <a:t>10 MIN</a:t>
            </a:r>
          </a:p>
        </p:txBody>
      </p:sp>
      <p:sp>
        <p:nvSpPr>
          <p:cNvPr id="14" name="TextBox 13"/>
          <p:cNvSpPr txBox="1"/>
          <p:nvPr/>
        </p:nvSpPr>
        <p:spPr>
          <a:xfrm>
            <a:off x="2998215" y="2326640"/>
            <a:ext cx="1830831" cy="635000"/>
          </a:xfrm>
          <a:prstGeom prst="rect">
            <a:avLst/>
          </a:prstGeom>
          <a:noFill/>
        </p:spPr>
        <p:txBody>
          <a:bodyPr wrap="square">
            <a:spAutoFit/>
          </a:bodyPr>
          <a:lstStyle/>
          <a:p/>
          <a:p>
            <a:pPr algn="l"/>
            <a:r>
              <a:rPr sz="1300" b="1" i="0">
                <a:solidFill>
                  <a:srgbClr val="0A0E20"/>
                </a:solidFill>
                <a:latin typeface="Calibri"/>
              </a:rPr>
              <a:t>Intro to SAP</a:t>
            </a:r>
          </a:p>
        </p:txBody>
      </p:sp>
      <p:sp>
        <p:nvSpPr>
          <p:cNvPr id="15" name="Rectangle 14"/>
          <p:cNvSpPr/>
          <p:nvPr/>
        </p:nvSpPr>
        <p:spPr>
          <a:xfrm>
            <a:off x="5102350" y="1920240"/>
            <a:ext cx="2084831" cy="3474720"/>
          </a:xfrm>
          <a:prstGeom prst="rect">
            <a:avLst/>
          </a:prstGeom>
          <a:solidFill>
            <a:srgbClr val="FFFFFF"/>
          </a:solidFill>
          <a:ln w="9525">
            <a:solidFill>
              <a:srgbClr val="C4D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102350" y="1920240"/>
            <a:ext cx="2084831" cy="3175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29350" y="2047240"/>
            <a:ext cx="1830831" cy="228600"/>
          </a:xfrm>
          <a:prstGeom prst="rect">
            <a:avLst/>
          </a:prstGeom>
          <a:noFill/>
        </p:spPr>
        <p:txBody>
          <a:bodyPr wrap="none">
            <a:spAutoFit/>
          </a:bodyPr>
          <a:lstStyle/>
          <a:p/>
          <a:p>
            <a:pPr algn="l"/>
            <a:r>
              <a:rPr sz="900" b="1" i="0">
                <a:solidFill>
                  <a:srgbClr val="D97706"/>
                </a:solidFill>
                <a:latin typeface="Calibri"/>
              </a:rPr>
              <a:t>30 MIN</a:t>
            </a:r>
          </a:p>
        </p:txBody>
      </p:sp>
      <p:sp>
        <p:nvSpPr>
          <p:cNvPr id="18" name="TextBox 17"/>
          <p:cNvSpPr txBox="1"/>
          <p:nvPr/>
        </p:nvSpPr>
        <p:spPr>
          <a:xfrm>
            <a:off x="5229350" y="2326640"/>
            <a:ext cx="1830831" cy="635000"/>
          </a:xfrm>
          <a:prstGeom prst="rect">
            <a:avLst/>
          </a:prstGeom>
          <a:noFill/>
        </p:spPr>
        <p:txBody>
          <a:bodyPr wrap="square">
            <a:spAutoFit/>
          </a:bodyPr>
          <a:lstStyle/>
          <a:p/>
          <a:p>
            <a:pPr algn="l"/>
            <a:r>
              <a:rPr sz="1300" b="1" i="0">
                <a:solidFill>
                  <a:srgbClr val="0A0E20"/>
                </a:solidFill>
                <a:latin typeface="Calibri"/>
              </a:rPr>
              <a:t>Hands-On:
Build with AI</a:t>
            </a:r>
          </a:p>
        </p:txBody>
      </p:sp>
      <p:sp>
        <p:nvSpPr>
          <p:cNvPr id="19" name="Rectangle 18"/>
          <p:cNvSpPr/>
          <p:nvPr/>
        </p:nvSpPr>
        <p:spPr>
          <a:xfrm>
            <a:off x="5203950" y="5039360"/>
            <a:ext cx="1881631" cy="25400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203950" y="5039360"/>
            <a:ext cx="1881631" cy="254000"/>
          </a:xfrm>
          <a:prstGeom prst="rect">
            <a:avLst/>
          </a:prstGeom>
          <a:noFill/>
        </p:spPr>
        <p:txBody>
          <a:bodyPr wrap="none">
            <a:spAutoFit/>
          </a:bodyPr>
          <a:lstStyle/>
          <a:p/>
          <a:p>
            <a:pPr algn="ctr"/>
            <a:r>
              <a:rPr sz="800" b="1" i="0">
                <a:solidFill>
                  <a:srgbClr val="000000"/>
                </a:solidFill>
                <a:latin typeface="Calibri"/>
              </a:rPr>
              <a:t>&lt;- YOU ARE HERE</a:t>
            </a:r>
          </a:p>
        </p:txBody>
      </p:sp>
      <p:sp>
        <p:nvSpPr>
          <p:cNvPr id="21" name="Rectangle 20"/>
          <p:cNvSpPr/>
          <p:nvPr/>
        </p:nvSpPr>
        <p:spPr>
          <a:xfrm>
            <a:off x="7333485" y="1920240"/>
            <a:ext cx="2084831" cy="3474720"/>
          </a:xfrm>
          <a:prstGeom prst="rect">
            <a:avLst/>
          </a:prstGeom>
          <a:solidFill>
            <a:srgbClr val="FFFFFF"/>
          </a:solidFill>
          <a:ln w="9525">
            <a:solidFill>
              <a:srgbClr val="C4D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333485" y="1920240"/>
            <a:ext cx="2084831" cy="31750"/>
          </a:xfrm>
          <a:prstGeom prst="rect">
            <a:avLst/>
          </a:prstGeom>
          <a:solidFill>
            <a:srgbClr val="6B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60485" y="2047240"/>
            <a:ext cx="1830831" cy="228600"/>
          </a:xfrm>
          <a:prstGeom prst="rect">
            <a:avLst/>
          </a:prstGeom>
          <a:noFill/>
        </p:spPr>
        <p:txBody>
          <a:bodyPr wrap="none">
            <a:spAutoFit/>
          </a:bodyPr>
          <a:lstStyle/>
          <a:p/>
          <a:p>
            <a:pPr algn="l"/>
            <a:r>
              <a:rPr sz="900" b="1" i="0">
                <a:solidFill>
                  <a:srgbClr val="4E5B78"/>
                </a:solidFill>
                <a:latin typeface="Calibri"/>
              </a:rPr>
              <a:t>10 MIN</a:t>
            </a:r>
          </a:p>
        </p:txBody>
      </p:sp>
      <p:sp>
        <p:nvSpPr>
          <p:cNvPr id="24" name="TextBox 23"/>
          <p:cNvSpPr txBox="1"/>
          <p:nvPr/>
        </p:nvSpPr>
        <p:spPr>
          <a:xfrm>
            <a:off x="7460485" y="2326640"/>
            <a:ext cx="1830831" cy="635000"/>
          </a:xfrm>
          <a:prstGeom prst="rect">
            <a:avLst/>
          </a:prstGeom>
          <a:noFill/>
        </p:spPr>
        <p:txBody>
          <a:bodyPr wrap="square">
            <a:spAutoFit/>
          </a:bodyPr>
          <a:lstStyle/>
          <a:p/>
          <a:p>
            <a:pPr algn="l"/>
            <a:r>
              <a:rPr sz="1300" b="1" i="0">
                <a:solidFill>
                  <a:srgbClr val="0A0E20"/>
                </a:solidFill>
                <a:latin typeface="Calibri"/>
              </a:rPr>
              <a:t>Responsible AI</a:t>
            </a:r>
          </a:p>
        </p:txBody>
      </p:sp>
      <p:sp>
        <p:nvSpPr>
          <p:cNvPr id="25" name="Rectangle 24"/>
          <p:cNvSpPr/>
          <p:nvPr/>
        </p:nvSpPr>
        <p:spPr>
          <a:xfrm>
            <a:off x="9564620" y="1920240"/>
            <a:ext cx="2084831" cy="3474720"/>
          </a:xfrm>
          <a:prstGeom prst="rect">
            <a:avLst/>
          </a:prstGeom>
          <a:solidFill>
            <a:srgbClr val="FFFFFF"/>
          </a:solidFill>
          <a:ln w="9525">
            <a:solidFill>
              <a:srgbClr val="C4D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564620" y="1920240"/>
            <a:ext cx="2084831" cy="31750"/>
          </a:xfrm>
          <a:prstGeom prst="rect">
            <a:avLst/>
          </a:prstGeom>
          <a:solidFill>
            <a:srgbClr val="6B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691620" y="2047240"/>
            <a:ext cx="1830831" cy="228600"/>
          </a:xfrm>
          <a:prstGeom prst="rect">
            <a:avLst/>
          </a:prstGeom>
          <a:noFill/>
        </p:spPr>
        <p:txBody>
          <a:bodyPr wrap="none">
            <a:spAutoFit/>
          </a:bodyPr>
          <a:lstStyle/>
          <a:p/>
          <a:p>
            <a:pPr algn="l"/>
            <a:r>
              <a:rPr sz="900" b="1" i="0">
                <a:solidFill>
                  <a:srgbClr val="4E5B78"/>
                </a:solidFill>
                <a:latin typeface="Calibri"/>
              </a:rPr>
              <a:t>10 MIN</a:t>
            </a:r>
          </a:p>
        </p:txBody>
      </p:sp>
      <p:sp>
        <p:nvSpPr>
          <p:cNvPr id="28" name="TextBox 27"/>
          <p:cNvSpPr txBox="1"/>
          <p:nvPr/>
        </p:nvSpPr>
        <p:spPr>
          <a:xfrm>
            <a:off x="9691620" y="2326640"/>
            <a:ext cx="1830831" cy="635000"/>
          </a:xfrm>
          <a:prstGeom prst="rect">
            <a:avLst/>
          </a:prstGeom>
          <a:noFill/>
        </p:spPr>
        <p:txBody>
          <a:bodyPr wrap="square">
            <a:spAutoFit/>
          </a:bodyPr>
          <a:lstStyle/>
          <a:p/>
          <a:p>
            <a:pPr algn="l"/>
            <a:r>
              <a:rPr sz="1300" b="1" i="0">
                <a:solidFill>
                  <a:srgbClr val="0A0E20"/>
                </a:solidFill>
                <a:latin typeface="Calibri"/>
              </a:rPr>
              <a:t>Closing &amp;
Discussion</a:t>
            </a:r>
          </a:p>
        </p:txBody>
      </p:sp>
      <p:sp>
        <p:nvSpPr>
          <p:cNvPr id="29" name="TextBox 28"/>
          <p:cNvSpPr txBox="1"/>
          <p:nvPr/>
        </p:nvSpPr>
        <p:spPr>
          <a:xfrm>
            <a:off x="9601200" y="5577840"/>
            <a:ext cx="2286000" cy="457200"/>
          </a:xfrm>
          <a:prstGeom prst="rect">
            <a:avLst/>
          </a:prstGeom>
          <a:noFill/>
        </p:spPr>
        <p:txBody>
          <a:bodyPr wrap="none">
            <a:spAutoFit/>
          </a:bodyPr>
          <a:lstStyle/>
          <a:p/>
          <a:p>
            <a:pPr algn="r"/>
            <a:r>
              <a:rPr sz="3200" b="0" i="0">
                <a:solidFill>
                  <a:srgbClr val="D97706"/>
                </a:solidFill>
                <a:latin typeface="Georgia"/>
              </a:rPr>
              <a:t>90 MIN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DF1FB"/>
        </a:solidFill>
        <a:effectLst/>
      </p:bgPr>
    </p:bg>
    <p:spTree>
      <p:nvGrpSpPr>
        <p:cNvPr id="1" name=""/>
        <p:cNvGrpSpPr/>
        <p:nvPr/>
      </p:nvGrpSpPr>
      <p:grpSpPr/>
      <p:sp>
        <p:nvSpPr>
          <p:cNvPr id="2" name="Rectangle 1"/>
          <p:cNvSpPr/>
          <p:nvPr/>
        </p:nvSpPr>
        <p:spPr>
          <a:xfrm>
            <a:off x="0" y="0"/>
            <a:ext cx="6094476" cy="50800"/>
          </a:xfrm>
          <a:prstGeom prst="rect">
            <a:avLst/>
          </a:prstGeom>
          <a:solidFill>
            <a:srgbClr val="0055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4476" y="0"/>
            <a:ext cx="6094476" cy="5080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10972800" cy="228600"/>
          </a:xfrm>
          <a:prstGeom prst="rect">
            <a:avLst/>
          </a:prstGeom>
          <a:noFill/>
        </p:spPr>
        <p:txBody>
          <a:bodyPr wrap="none">
            <a:spAutoFit/>
          </a:bodyPr>
          <a:lstStyle/>
          <a:p/>
          <a:p>
            <a:pPr algn="l"/>
            <a:r>
              <a:rPr sz="900" b="1" i="0">
                <a:solidFill>
                  <a:srgbClr val="0055CC"/>
                </a:solidFill>
                <a:latin typeface="Calibri"/>
              </a:rPr>
              <a:t>SESSION OVERVIEW</a:t>
            </a:r>
          </a:p>
        </p:txBody>
      </p:sp>
      <p:sp>
        <p:nvSpPr>
          <p:cNvPr id="5" name="TextBox 4"/>
          <p:cNvSpPr txBox="1"/>
          <p:nvPr/>
        </p:nvSpPr>
        <p:spPr>
          <a:xfrm>
            <a:off x="640080" y="777240"/>
            <a:ext cx="9144000" cy="1828800"/>
          </a:xfrm>
          <a:prstGeom prst="rect">
            <a:avLst/>
          </a:prstGeom>
          <a:noFill/>
        </p:spPr>
        <p:txBody>
          <a:bodyPr wrap="square">
            <a:spAutoFit/>
          </a:bodyPr>
          <a:lstStyle/>
          <a:p/>
          <a:p>
            <a:pPr algn="l"/>
            <a:r>
              <a:rPr sz="4400" b="0" i="0">
                <a:solidFill>
                  <a:srgbClr val="0A0E20"/>
                </a:solidFill>
                <a:latin typeface="Georgia"/>
              </a:rPr>
              <a:t>Today's Session</a:t>
            </a:r>
          </a:p>
        </p:txBody>
      </p:sp>
      <p:sp>
        <p:nvSpPr>
          <p:cNvPr id="6" name="Rectangle 5"/>
          <p:cNvSpPr/>
          <p:nvPr/>
        </p:nvSpPr>
        <p:spPr>
          <a:xfrm>
            <a:off x="640080" y="1783080"/>
            <a:ext cx="658368" cy="3810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920240"/>
            <a:ext cx="10972800" cy="685800"/>
          </a:xfrm>
          <a:prstGeom prst="rect">
            <a:avLst/>
          </a:prstGeom>
          <a:solidFill>
            <a:srgbClr val="FFF0D8"/>
          </a:solidFill>
          <a:ln w="9525">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993392"/>
            <a:ext cx="10698480" cy="558800"/>
          </a:xfrm>
          <a:prstGeom prst="rect">
            <a:avLst/>
          </a:prstGeom>
          <a:noFill/>
        </p:spPr>
        <p:txBody>
          <a:bodyPr wrap="square">
            <a:spAutoFit/>
          </a:bodyPr>
          <a:lstStyle/>
          <a:p/>
          <a:p>
            <a:pPr algn="l"/>
            <a:r>
              <a:rPr sz="1200" b="0" i="0">
                <a:solidFill>
                  <a:srgbClr val="1C2240"/>
                </a:solidFill>
                <a:latin typeface="Calibri"/>
              </a:rPr>
              <a:t>Employers don't just want diplomas -- they want to see what you can DO. In 30 minutes you'll build a real AI-generated portfolio for college apps, internships, and LinkedIn.</a:t>
            </a:r>
          </a:p>
        </p:txBody>
      </p:sp>
      <p:sp>
        <p:nvSpPr>
          <p:cNvPr id="9" name="Rectangle 8"/>
          <p:cNvSpPr/>
          <p:nvPr/>
        </p:nvSpPr>
        <p:spPr>
          <a:xfrm>
            <a:off x="640080" y="2788920"/>
            <a:ext cx="2606040" cy="3291840"/>
          </a:xfrm>
          <a:prstGeom prst="rect">
            <a:avLst/>
          </a:prstGeom>
          <a:solidFill>
            <a:srgbClr val="FFFFFF"/>
          </a:solidFill>
          <a:ln w="9525">
            <a:solidFill>
              <a:srgbClr val="C4D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788920"/>
            <a:ext cx="2606040" cy="3175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7080" y="2915920"/>
            <a:ext cx="2352040" cy="203200"/>
          </a:xfrm>
          <a:prstGeom prst="rect">
            <a:avLst/>
          </a:prstGeom>
          <a:noFill/>
        </p:spPr>
        <p:txBody>
          <a:bodyPr wrap="none">
            <a:spAutoFit/>
          </a:bodyPr>
          <a:lstStyle/>
          <a:p/>
          <a:p>
            <a:pPr algn="l"/>
            <a:r>
              <a:rPr sz="900" b="1" i="0">
                <a:solidFill>
                  <a:srgbClr val="4E5B78"/>
                </a:solidFill>
                <a:latin typeface="Calibri"/>
              </a:rPr>
              <a:t>5 MIN</a:t>
            </a:r>
          </a:p>
        </p:txBody>
      </p:sp>
      <p:sp>
        <p:nvSpPr>
          <p:cNvPr id="12" name="TextBox 11"/>
          <p:cNvSpPr txBox="1"/>
          <p:nvPr/>
        </p:nvSpPr>
        <p:spPr>
          <a:xfrm>
            <a:off x="767080" y="3144520"/>
            <a:ext cx="2352040" cy="431800"/>
          </a:xfrm>
          <a:prstGeom prst="rect">
            <a:avLst/>
          </a:prstGeom>
          <a:noFill/>
        </p:spPr>
        <p:txBody>
          <a:bodyPr wrap="square">
            <a:spAutoFit/>
          </a:bodyPr>
          <a:lstStyle/>
          <a:p/>
          <a:p>
            <a:pPr algn="l"/>
            <a:r>
              <a:rPr sz="1200" b="1" i="0">
                <a:solidFill>
                  <a:srgbClr val="0A0E20"/>
                </a:solidFill>
                <a:latin typeface="Calibri"/>
              </a:rPr>
              <a:t>Audience Warmup</a:t>
            </a:r>
          </a:p>
        </p:txBody>
      </p:sp>
      <p:sp>
        <p:nvSpPr>
          <p:cNvPr id="13" name="TextBox 12"/>
          <p:cNvSpPr txBox="1"/>
          <p:nvPr/>
        </p:nvSpPr>
        <p:spPr>
          <a:xfrm>
            <a:off x="767080" y="3652520"/>
            <a:ext cx="2352040" cy="1371600"/>
          </a:xfrm>
          <a:prstGeom prst="rect">
            <a:avLst/>
          </a:prstGeom>
          <a:noFill/>
        </p:spPr>
        <p:txBody>
          <a:bodyPr wrap="square">
            <a:spAutoFit/>
          </a:bodyPr>
          <a:lstStyle/>
          <a:p/>
          <a:p>
            <a:pPr algn="l"/>
            <a:r>
              <a:rPr sz="1100" b="0" i="0">
                <a:solidFill>
                  <a:srgbClr val="4E5B78"/>
                </a:solidFill>
                <a:latin typeface="Calibri"/>
              </a:rPr>
              <a:t>Quick poll -- careers? AI usage?</a:t>
            </a:r>
          </a:p>
        </p:txBody>
      </p:sp>
      <p:sp>
        <p:nvSpPr>
          <p:cNvPr id="14" name="Rectangle 13"/>
          <p:cNvSpPr/>
          <p:nvPr/>
        </p:nvSpPr>
        <p:spPr>
          <a:xfrm>
            <a:off x="3364992" y="2788920"/>
            <a:ext cx="2606040" cy="3291840"/>
          </a:xfrm>
          <a:prstGeom prst="rect">
            <a:avLst/>
          </a:prstGeom>
          <a:solidFill>
            <a:srgbClr val="FFFFFF"/>
          </a:solidFill>
          <a:ln w="9525">
            <a:solidFill>
              <a:srgbClr val="C4D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64992" y="2788920"/>
            <a:ext cx="2606040" cy="31750"/>
          </a:xfrm>
          <a:prstGeom prst="rect">
            <a:avLst/>
          </a:prstGeom>
          <a:solidFill>
            <a:srgbClr val="0055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91992" y="2915920"/>
            <a:ext cx="2352040" cy="203200"/>
          </a:xfrm>
          <a:prstGeom prst="rect">
            <a:avLst/>
          </a:prstGeom>
          <a:noFill/>
        </p:spPr>
        <p:txBody>
          <a:bodyPr wrap="none">
            <a:spAutoFit/>
          </a:bodyPr>
          <a:lstStyle/>
          <a:p/>
          <a:p>
            <a:pPr algn="l"/>
            <a:r>
              <a:rPr sz="900" b="1" i="0">
                <a:solidFill>
                  <a:srgbClr val="4E5B78"/>
                </a:solidFill>
                <a:latin typeface="Calibri"/>
              </a:rPr>
              <a:t>5 MIN</a:t>
            </a:r>
          </a:p>
        </p:txBody>
      </p:sp>
      <p:sp>
        <p:nvSpPr>
          <p:cNvPr id="17" name="TextBox 16"/>
          <p:cNvSpPr txBox="1"/>
          <p:nvPr/>
        </p:nvSpPr>
        <p:spPr>
          <a:xfrm>
            <a:off x="3491992" y="3144520"/>
            <a:ext cx="2352040" cy="431800"/>
          </a:xfrm>
          <a:prstGeom prst="rect">
            <a:avLst/>
          </a:prstGeom>
          <a:noFill/>
        </p:spPr>
        <p:txBody>
          <a:bodyPr wrap="square">
            <a:spAutoFit/>
          </a:bodyPr>
          <a:lstStyle/>
          <a:p/>
          <a:p>
            <a:pPr algn="l"/>
            <a:r>
              <a:rPr sz="1200" b="1" i="0">
                <a:solidFill>
                  <a:srgbClr val="0A0E20"/>
                </a:solidFill>
                <a:latin typeface="Calibri"/>
              </a:rPr>
              <a:t>AI &amp; Your Career</a:t>
            </a:r>
          </a:p>
        </p:txBody>
      </p:sp>
      <p:sp>
        <p:nvSpPr>
          <p:cNvPr id="18" name="TextBox 17"/>
          <p:cNvSpPr txBox="1"/>
          <p:nvPr/>
        </p:nvSpPr>
        <p:spPr>
          <a:xfrm>
            <a:off x="3491992" y="3652520"/>
            <a:ext cx="2352040" cy="1371600"/>
          </a:xfrm>
          <a:prstGeom prst="rect">
            <a:avLst/>
          </a:prstGeom>
          <a:noFill/>
        </p:spPr>
        <p:txBody>
          <a:bodyPr wrap="square">
            <a:spAutoFit/>
          </a:bodyPr>
          <a:lstStyle/>
          <a:p/>
          <a:p>
            <a:pPr algn="l"/>
            <a:r>
              <a:rPr sz="1100" b="0" i="0">
                <a:solidFill>
                  <a:srgbClr val="4E5B78"/>
                </a:solidFill>
                <a:latin typeface="Calibri"/>
              </a:rPr>
              <a:t>How AI reshapes every field.</a:t>
            </a:r>
          </a:p>
        </p:txBody>
      </p:sp>
      <p:sp>
        <p:nvSpPr>
          <p:cNvPr id="19" name="Rectangle 18"/>
          <p:cNvSpPr/>
          <p:nvPr/>
        </p:nvSpPr>
        <p:spPr>
          <a:xfrm>
            <a:off x="6089904" y="2788920"/>
            <a:ext cx="2606040" cy="3291840"/>
          </a:xfrm>
          <a:prstGeom prst="rect">
            <a:avLst/>
          </a:prstGeom>
          <a:solidFill>
            <a:srgbClr val="FFFFFF"/>
          </a:solidFill>
          <a:ln w="9525">
            <a:solidFill>
              <a:srgbClr val="C4D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089904" y="2788920"/>
            <a:ext cx="2606040" cy="3175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16904" y="2915920"/>
            <a:ext cx="2352040" cy="203200"/>
          </a:xfrm>
          <a:prstGeom prst="rect">
            <a:avLst/>
          </a:prstGeom>
          <a:noFill/>
        </p:spPr>
        <p:txBody>
          <a:bodyPr wrap="none">
            <a:spAutoFit/>
          </a:bodyPr>
          <a:lstStyle/>
          <a:p/>
          <a:p>
            <a:pPr algn="l"/>
            <a:r>
              <a:rPr sz="900" b="1" i="0">
                <a:solidFill>
                  <a:srgbClr val="4E5B78"/>
                </a:solidFill>
                <a:latin typeface="Calibri"/>
              </a:rPr>
              <a:t>15 MIN</a:t>
            </a:r>
          </a:p>
        </p:txBody>
      </p:sp>
      <p:sp>
        <p:nvSpPr>
          <p:cNvPr id="22" name="TextBox 21"/>
          <p:cNvSpPr txBox="1"/>
          <p:nvPr/>
        </p:nvSpPr>
        <p:spPr>
          <a:xfrm>
            <a:off x="6216904" y="3144520"/>
            <a:ext cx="2352040" cy="431800"/>
          </a:xfrm>
          <a:prstGeom prst="rect">
            <a:avLst/>
          </a:prstGeom>
          <a:noFill/>
        </p:spPr>
        <p:txBody>
          <a:bodyPr wrap="square">
            <a:spAutoFit/>
          </a:bodyPr>
          <a:lstStyle/>
          <a:p/>
          <a:p>
            <a:pPr algn="l"/>
            <a:r>
              <a:rPr sz="1200" b="1" i="0">
                <a:solidFill>
                  <a:srgbClr val="0A0E20"/>
                </a:solidFill>
                <a:latin typeface="Calibri"/>
              </a:rPr>
              <a:t>Build: Gemini -&gt; Portfolio -&gt; Live</a:t>
            </a:r>
          </a:p>
        </p:txBody>
      </p:sp>
      <p:sp>
        <p:nvSpPr>
          <p:cNvPr id="23" name="TextBox 22"/>
          <p:cNvSpPr txBox="1"/>
          <p:nvPr/>
        </p:nvSpPr>
        <p:spPr>
          <a:xfrm>
            <a:off x="6216904" y="3652520"/>
            <a:ext cx="2352040" cy="1371600"/>
          </a:xfrm>
          <a:prstGeom prst="rect">
            <a:avLst/>
          </a:prstGeom>
          <a:noFill/>
        </p:spPr>
        <p:txBody>
          <a:bodyPr wrap="square">
            <a:spAutoFit/>
          </a:bodyPr>
          <a:lstStyle/>
          <a:p/>
          <a:p>
            <a:pPr algn="l"/>
            <a:r>
              <a:rPr sz="1100" b="0" i="0">
                <a:solidFill>
                  <a:srgbClr val="4E5B78"/>
                </a:solidFill>
                <a:latin typeface="Calibri"/>
              </a:rPr>
              <a:t>Demo first. Then you run it. Gemini writes your full webpage.</a:t>
            </a:r>
          </a:p>
        </p:txBody>
      </p:sp>
      <p:sp>
        <p:nvSpPr>
          <p:cNvPr id="24" name="Rectangle 23"/>
          <p:cNvSpPr/>
          <p:nvPr/>
        </p:nvSpPr>
        <p:spPr>
          <a:xfrm>
            <a:off x="8814816" y="2788920"/>
            <a:ext cx="2606040" cy="3291840"/>
          </a:xfrm>
          <a:prstGeom prst="rect">
            <a:avLst/>
          </a:prstGeom>
          <a:solidFill>
            <a:srgbClr val="FFFFFF"/>
          </a:solidFill>
          <a:ln w="9525">
            <a:solidFill>
              <a:srgbClr val="C4D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814816" y="2788920"/>
            <a:ext cx="2606040" cy="31750"/>
          </a:xfrm>
          <a:prstGeom prst="rect">
            <a:avLst/>
          </a:prstGeom>
          <a:solidFill>
            <a:srgbClr val="4E5B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41816" y="2915920"/>
            <a:ext cx="2352040" cy="203200"/>
          </a:xfrm>
          <a:prstGeom prst="rect">
            <a:avLst/>
          </a:prstGeom>
          <a:noFill/>
        </p:spPr>
        <p:txBody>
          <a:bodyPr wrap="none">
            <a:spAutoFit/>
          </a:bodyPr>
          <a:lstStyle/>
          <a:p/>
          <a:p>
            <a:pPr algn="l"/>
            <a:r>
              <a:rPr sz="900" b="1" i="0">
                <a:solidFill>
                  <a:srgbClr val="4E5B78"/>
                </a:solidFill>
                <a:latin typeface="Calibri"/>
              </a:rPr>
              <a:t>5 MIN</a:t>
            </a:r>
          </a:p>
        </p:txBody>
      </p:sp>
      <p:sp>
        <p:nvSpPr>
          <p:cNvPr id="27" name="TextBox 26"/>
          <p:cNvSpPr txBox="1"/>
          <p:nvPr/>
        </p:nvSpPr>
        <p:spPr>
          <a:xfrm>
            <a:off x="8941816" y="3144520"/>
            <a:ext cx="2352040" cy="431800"/>
          </a:xfrm>
          <a:prstGeom prst="rect">
            <a:avLst/>
          </a:prstGeom>
          <a:noFill/>
        </p:spPr>
        <p:txBody>
          <a:bodyPr wrap="square">
            <a:spAutoFit/>
          </a:bodyPr>
          <a:lstStyle/>
          <a:p/>
          <a:p>
            <a:pPr algn="l"/>
            <a:r>
              <a:rPr sz="1200" b="1" i="0">
                <a:solidFill>
                  <a:srgbClr val="0A0E20"/>
                </a:solidFill>
                <a:latin typeface="Calibri"/>
              </a:rPr>
              <a:t>Share &amp; Wrap</a:t>
            </a:r>
          </a:p>
        </p:txBody>
      </p:sp>
      <p:sp>
        <p:nvSpPr>
          <p:cNvPr id="28" name="TextBox 27"/>
          <p:cNvSpPr txBox="1"/>
          <p:nvPr/>
        </p:nvSpPr>
        <p:spPr>
          <a:xfrm>
            <a:off x="8941816" y="3652520"/>
            <a:ext cx="2352040" cy="1371600"/>
          </a:xfrm>
          <a:prstGeom prst="rect">
            <a:avLst/>
          </a:prstGeom>
          <a:noFill/>
        </p:spPr>
        <p:txBody>
          <a:bodyPr wrap="square">
            <a:spAutoFit/>
          </a:bodyPr>
          <a:lstStyle/>
          <a:p/>
          <a:p>
            <a:pPr algn="l"/>
            <a:r>
              <a:rPr sz="1100" b="0" i="0">
                <a:solidFill>
                  <a:srgbClr val="4E5B78"/>
                </a:solidFill>
                <a:latin typeface="Calibri"/>
              </a:rPr>
              <a:t>Volunteers share. Take-home challenge.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DF1FB"/>
        </a:solidFill>
        <a:effectLst/>
      </p:bgPr>
    </p:bg>
    <p:spTree>
      <p:nvGrpSpPr>
        <p:cNvPr id="1" name=""/>
        <p:cNvGrpSpPr/>
        <p:nvPr/>
      </p:nvGrpSpPr>
      <p:grpSpPr/>
      <p:sp>
        <p:nvSpPr>
          <p:cNvPr id="2" name="Rectangle 1"/>
          <p:cNvSpPr/>
          <p:nvPr/>
        </p:nvSpPr>
        <p:spPr>
          <a:xfrm>
            <a:off x="0" y="0"/>
            <a:ext cx="6094476" cy="50800"/>
          </a:xfrm>
          <a:prstGeom prst="rect">
            <a:avLst/>
          </a:prstGeom>
          <a:solidFill>
            <a:srgbClr val="0055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4476" y="0"/>
            <a:ext cx="6094476" cy="5080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10972800" cy="228600"/>
          </a:xfrm>
          <a:prstGeom prst="rect">
            <a:avLst/>
          </a:prstGeom>
          <a:noFill/>
        </p:spPr>
        <p:txBody>
          <a:bodyPr wrap="none">
            <a:spAutoFit/>
          </a:bodyPr>
          <a:lstStyle/>
          <a:p/>
          <a:p>
            <a:pPr algn="l"/>
            <a:r>
              <a:rPr sz="900" b="1" i="0">
                <a:solidFill>
                  <a:srgbClr val="0055CC"/>
                </a:solidFill>
                <a:latin typeface="Calibri"/>
              </a:rPr>
              <a:t>AI &amp; YOUR FUTURE</a:t>
            </a:r>
          </a:p>
        </p:txBody>
      </p:sp>
      <p:sp>
        <p:nvSpPr>
          <p:cNvPr id="5" name="TextBox 4"/>
          <p:cNvSpPr txBox="1"/>
          <p:nvPr/>
        </p:nvSpPr>
        <p:spPr>
          <a:xfrm>
            <a:off x="640080" y="777240"/>
            <a:ext cx="9144000" cy="1828800"/>
          </a:xfrm>
          <a:prstGeom prst="rect">
            <a:avLst/>
          </a:prstGeom>
          <a:noFill/>
        </p:spPr>
        <p:txBody>
          <a:bodyPr wrap="square">
            <a:spAutoFit/>
          </a:bodyPr>
          <a:lstStyle/>
          <a:p/>
          <a:p>
            <a:pPr algn="l"/>
            <a:r>
              <a:rPr sz="4400" b="0" i="0">
                <a:solidFill>
                  <a:srgbClr val="0A0E20"/>
                </a:solidFill>
                <a:latin typeface="Georgia"/>
              </a:rPr>
              <a:t>AI Is Already in the Room</a:t>
            </a:r>
          </a:p>
        </p:txBody>
      </p:sp>
      <p:sp>
        <p:nvSpPr>
          <p:cNvPr id="6" name="Rectangle 5"/>
          <p:cNvSpPr/>
          <p:nvPr/>
        </p:nvSpPr>
        <p:spPr>
          <a:xfrm>
            <a:off x="640080" y="1783080"/>
            <a:ext cx="658368" cy="3810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920240"/>
            <a:ext cx="2084831" cy="2651760"/>
          </a:xfrm>
          <a:prstGeom prst="rect">
            <a:avLst/>
          </a:prstGeom>
          <a:solidFill>
            <a:srgbClr val="FFFFFF"/>
          </a:solidFill>
          <a:ln w="9525">
            <a:solidFill>
              <a:srgbClr val="C4D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7080" y="2072640"/>
            <a:ext cx="1830831" cy="279400"/>
          </a:xfrm>
          <a:prstGeom prst="rect">
            <a:avLst/>
          </a:prstGeom>
          <a:noFill/>
        </p:spPr>
        <p:txBody>
          <a:bodyPr wrap="none">
            <a:spAutoFit/>
          </a:bodyPr>
          <a:lstStyle/>
          <a:p/>
          <a:p>
            <a:pPr algn="l"/>
            <a:r>
              <a:rPr sz="1300" b="1" i="0">
                <a:solidFill>
                  <a:srgbClr val="D97706"/>
                </a:solidFill>
                <a:latin typeface="Calibri"/>
              </a:rPr>
              <a:t>Healthcare</a:t>
            </a:r>
          </a:p>
        </p:txBody>
      </p:sp>
      <p:sp>
        <p:nvSpPr>
          <p:cNvPr id="9" name="TextBox 8"/>
          <p:cNvSpPr txBox="1"/>
          <p:nvPr/>
        </p:nvSpPr>
        <p:spPr>
          <a:xfrm>
            <a:off x="767080" y="2402840"/>
            <a:ext cx="1830831" cy="1645920"/>
          </a:xfrm>
          <a:prstGeom prst="rect">
            <a:avLst/>
          </a:prstGeom>
          <a:noFill/>
        </p:spPr>
        <p:txBody>
          <a:bodyPr wrap="square">
            <a:spAutoFit/>
          </a:bodyPr>
          <a:lstStyle/>
          <a:p/>
          <a:p>
            <a:pPr algn="l"/>
            <a:r>
              <a:rPr sz="1100" b="0" i="0">
                <a:solidFill>
                  <a:srgbClr val="4E5B78"/>
                </a:solidFill>
                <a:latin typeface="Calibri"/>
              </a:rPr>
              <a:t>AI reads scans, flags risks, and surfaces diagnoses faster than any one doctor.</a:t>
            </a:r>
          </a:p>
        </p:txBody>
      </p:sp>
      <p:sp>
        <p:nvSpPr>
          <p:cNvPr id="10" name="Rectangle 9"/>
          <p:cNvSpPr/>
          <p:nvPr/>
        </p:nvSpPr>
        <p:spPr>
          <a:xfrm>
            <a:off x="2871215" y="1920240"/>
            <a:ext cx="2084831" cy="2651760"/>
          </a:xfrm>
          <a:prstGeom prst="rect">
            <a:avLst/>
          </a:prstGeom>
          <a:solidFill>
            <a:srgbClr val="FFFFFF"/>
          </a:solidFill>
          <a:ln w="9525">
            <a:solidFill>
              <a:srgbClr val="C4D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98215" y="2072640"/>
            <a:ext cx="1830831" cy="279400"/>
          </a:xfrm>
          <a:prstGeom prst="rect">
            <a:avLst/>
          </a:prstGeom>
          <a:noFill/>
        </p:spPr>
        <p:txBody>
          <a:bodyPr wrap="none">
            <a:spAutoFit/>
          </a:bodyPr>
          <a:lstStyle/>
          <a:p/>
          <a:p>
            <a:pPr algn="l"/>
            <a:r>
              <a:rPr sz="1300" b="1" i="0">
                <a:solidFill>
                  <a:srgbClr val="D97706"/>
                </a:solidFill>
                <a:latin typeface="Calibri"/>
              </a:rPr>
              <a:t>Business</a:t>
            </a:r>
          </a:p>
        </p:txBody>
      </p:sp>
      <p:sp>
        <p:nvSpPr>
          <p:cNvPr id="12" name="TextBox 11"/>
          <p:cNvSpPr txBox="1"/>
          <p:nvPr/>
        </p:nvSpPr>
        <p:spPr>
          <a:xfrm>
            <a:off x="2998215" y="2402840"/>
            <a:ext cx="1830831" cy="1645920"/>
          </a:xfrm>
          <a:prstGeom prst="rect">
            <a:avLst/>
          </a:prstGeom>
          <a:noFill/>
        </p:spPr>
        <p:txBody>
          <a:bodyPr wrap="square">
            <a:spAutoFit/>
          </a:bodyPr>
          <a:lstStyle/>
          <a:p/>
          <a:p>
            <a:pPr algn="l"/>
            <a:r>
              <a:rPr sz="1100" b="0" i="0">
                <a:solidFill>
                  <a:srgbClr val="4E5B78"/>
                </a:solidFill>
                <a:latin typeface="Calibri"/>
              </a:rPr>
              <a:t>AI drafts contracts, forecasts revenue, and analyzes deals in seconds.</a:t>
            </a:r>
          </a:p>
        </p:txBody>
      </p:sp>
      <p:sp>
        <p:nvSpPr>
          <p:cNvPr id="13" name="Rectangle 12"/>
          <p:cNvSpPr/>
          <p:nvPr/>
        </p:nvSpPr>
        <p:spPr>
          <a:xfrm>
            <a:off x="5102350" y="1920240"/>
            <a:ext cx="2084831" cy="2651760"/>
          </a:xfrm>
          <a:prstGeom prst="rect">
            <a:avLst/>
          </a:prstGeom>
          <a:solidFill>
            <a:srgbClr val="FFFFFF"/>
          </a:solidFill>
          <a:ln w="9525">
            <a:solidFill>
              <a:srgbClr val="C4D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29350" y="2072640"/>
            <a:ext cx="1830831" cy="279400"/>
          </a:xfrm>
          <a:prstGeom prst="rect">
            <a:avLst/>
          </a:prstGeom>
          <a:noFill/>
        </p:spPr>
        <p:txBody>
          <a:bodyPr wrap="none">
            <a:spAutoFit/>
          </a:bodyPr>
          <a:lstStyle/>
          <a:p/>
          <a:p>
            <a:pPr algn="l"/>
            <a:r>
              <a:rPr sz="1300" b="1" i="0">
                <a:solidFill>
                  <a:srgbClr val="D97706"/>
                </a:solidFill>
                <a:latin typeface="Calibri"/>
              </a:rPr>
              <a:t>Creative</a:t>
            </a:r>
          </a:p>
        </p:txBody>
      </p:sp>
      <p:sp>
        <p:nvSpPr>
          <p:cNvPr id="15" name="TextBox 14"/>
          <p:cNvSpPr txBox="1"/>
          <p:nvPr/>
        </p:nvSpPr>
        <p:spPr>
          <a:xfrm>
            <a:off x="5229350" y="2402840"/>
            <a:ext cx="1830831" cy="1645920"/>
          </a:xfrm>
          <a:prstGeom prst="rect">
            <a:avLst/>
          </a:prstGeom>
          <a:noFill/>
        </p:spPr>
        <p:txBody>
          <a:bodyPr wrap="square">
            <a:spAutoFit/>
          </a:bodyPr>
          <a:lstStyle/>
          <a:p/>
          <a:p>
            <a:pPr algn="l"/>
            <a:r>
              <a:rPr sz="1100" b="0" i="0">
                <a:solidFill>
                  <a:srgbClr val="4E5B78"/>
                </a:solidFill>
                <a:latin typeface="Calibri"/>
              </a:rPr>
              <a:t>AI generates images, music, and video. Humans direct and judge it.</a:t>
            </a:r>
          </a:p>
        </p:txBody>
      </p:sp>
      <p:sp>
        <p:nvSpPr>
          <p:cNvPr id="16" name="Rectangle 15"/>
          <p:cNvSpPr/>
          <p:nvPr/>
        </p:nvSpPr>
        <p:spPr>
          <a:xfrm>
            <a:off x="7333485" y="1920240"/>
            <a:ext cx="2084831" cy="2651760"/>
          </a:xfrm>
          <a:prstGeom prst="rect">
            <a:avLst/>
          </a:prstGeom>
          <a:solidFill>
            <a:srgbClr val="FFFFFF"/>
          </a:solidFill>
          <a:ln w="9525">
            <a:solidFill>
              <a:srgbClr val="C4D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60485" y="2072640"/>
            <a:ext cx="1830831" cy="279400"/>
          </a:xfrm>
          <a:prstGeom prst="rect">
            <a:avLst/>
          </a:prstGeom>
          <a:noFill/>
        </p:spPr>
        <p:txBody>
          <a:bodyPr wrap="none">
            <a:spAutoFit/>
          </a:bodyPr>
          <a:lstStyle/>
          <a:p/>
          <a:p>
            <a:pPr algn="l"/>
            <a:r>
              <a:rPr sz="1300" b="1" i="0">
                <a:solidFill>
                  <a:srgbClr val="D97706"/>
                </a:solidFill>
                <a:latin typeface="Calibri"/>
              </a:rPr>
              <a:t>Sports</a:t>
            </a:r>
          </a:p>
        </p:txBody>
      </p:sp>
      <p:sp>
        <p:nvSpPr>
          <p:cNvPr id="18" name="TextBox 17"/>
          <p:cNvSpPr txBox="1"/>
          <p:nvPr/>
        </p:nvSpPr>
        <p:spPr>
          <a:xfrm>
            <a:off x="7460485" y="2402840"/>
            <a:ext cx="1830831" cy="1645920"/>
          </a:xfrm>
          <a:prstGeom prst="rect">
            <a:avLst/>
          </a:prstGeom>
          <a:noFill/>
        </p:spPr>
        <p:txBody>
          <a:bodyPr wrap="square">
            <a:spAutoFit/>
          </a:bodyPr>
          <a:lstStyle/>
          <a:p/>
          <a:p>
            <a:pPr algn="l"/>
            <a:r>
              <a:rPr sz="1100" b="0" i="0">
                <a:solidFill>
                  <a:srgbClr val="4E5B78"/>
                </a:solidFill>
                <a:latin typeface="Calibri"/>
              </a:rPr>
              <a:t>AI tracks athlete data in real time -- predicting injuries before they happen.</a:t>
            </a:r>
          </a:p>
        </p:txBody>
      </p:sp>
      <p:sp>
        <p:nvSpPr>
          <p:cNvPr id="19" name="Rectangle 18"/>
          <p:cNvSpPr/>
          <p:nvPr/>
        </p:nvSpPr>
        <p:spPr>
          <a:xfrm>
            <a:off x="9564620" y="1920240"/>
            <a:ext cx="2084831" cy="2651760"/>
          </a:xfrm>
          <a:prstGeom prst="rect">
            <a:avLst/>
          </a:prstGeom>
          <a:solidFill>
            <a:srgbClr val="FFFFFF"/>
          </a:solidFill>
          <a:ln w="9525">
            <a:solidFill>
              <a:srgbClr val="C4D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91620" y="2072640"/>
            <a:ext cx="1830831" cy="279400"/>
          </a:xfrm>
          <a:prstGeom prst="rect">
            <a:avLst/>
          </a:prstGeom>
          <a:noFill/>
        </p:spPr>
        <p:txBody>
          <a:bodyPr wrap="none">
            <a:spAutoFit/>
          </a:bodyPr>
          <a:lstStyle/>
          <a:p/>
          <a:p>
            <a:pPr algn="l"/>
            <a:r>
              <a:rPr sz="1300" b="1" i="0">
                <a:solidFill>
                  <a:srgbClr val="D97706"/>
                </a:solidFill>
                <a:latin typeface="Calibri"/>
              </a:rPr>
              <a:t>Engineering</a:t>
            </a:r>
          </a:p>
        </p:txBody>
      </p:sp>
      <p:sp>
        <p:nvSpPr>
          <p:cNvPr id="21" name="TextBox 20"/>
          <p:cNvSpPr txBox="1"/>
          <p:nvPr/>
        </p:nvSpPr>
        <p:spPr>
          <a:xfrm>
            <a:off x="9691620" y="2402840"/>
            <a:ext cx="1830831" cy="1645920"/>
          </a:xfrm>
          <a:prstGeom prst="rect">
            <a:avLst/>
          </a:prstGeom>
          <a:noFill/>
        </p:spPr>
        <p:txBody>
          <a:bodyPr wrap="square">
            <a:spAutoFit/>
          </a:bodyPr>
          <a:lstStyle/>
          <a:p/>
          <a:p>
            <a:pPr algn="l"/>
            <a:r>
              <a:rPr sz="1100" b="0" i="0">
                <a:solidFill>
                  <a:srgbClr val="4E5B78"/>
                </a:solidFill>
                <a:latin typeface="Calibri"/>
              </a:rPr>
              <a:t>AI designs structures, models climate, and simulates systems at scale.</a:t>
            </a:r>
          </a:p>
        </p:txBody>
      </p:sp>
      <p:sp>
        <p:nvSpPr>
          <p:cNvPr id="22" name="Rectangle 21"/>
          <p:cNvSpPr/>
          <p:nvPr/>
        </p:nvSpPr>
        <p:spPr>
          <a:xfrm>
            <a:off x="640080" y="4754880"/>
            <a:ext cx="10972800" cy="777240"/>
          </a:xfrm>
          <a:prstGeom prst="rect">
            <a:avLst/>
          </a:prstGeom>
          <a:solidFill>
            <a:srgbClr val="FFF0D8"/>
          </a:solidFill>
          <a:ln w="9525">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4846320"/>
            <a:ext cx="10698480" cy="558800"/>
          </a:xfrm>
          <a:prstGeom prst="rect">
            <a:avLst/>
          </a:prstGeom>
          <a:noFill/>
        </p:spPr>
        <p:txBody>
          <a:bodyPr wrap="square">
            <a:spAutoFit/>
          </a:bodyPr>
          <a:lstStyle/>
          <a:p/>
          <a:p>
            <a:pPr algn="l"/>
            <a:r>
              <a:rPr sz="1300" b="0" i="0">
                <a:solidFill>
                  <a:srgbClr val="1C2240"/>
                </a:solidFill>
                <a:latin typeface="Calibri"/>
              </a:rPr>
              <a:t>The real skill in every field: knowing how to ask AI the right question -- and knowing when to trust the answer.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EDF1FB"/>
        </a:solidFill>
        <a:effectLst/>
      </p:bgPr>
    </p:bg>
    <p:spTree>
      <p:nvGrpSpPr>
        <p:cNvPr id="1" name=""/>
        <p:cNvGrpSpPr/>
        <p:nvPr/>
      </p:nvGrpSpPr>
      <p:grpSpPr/>
      <p:sp>
        <p:nvSpPr>
          <p:cNvPr id="2" name="Rectangle 1"/>
          <p:cNvSpPr/>
          <p:nvPr/>
        </p:nvSpPr>
        <p:spPr>
          <a:xfrm>
            <a:off x="0" y="0"/>
            <a:ext cx="6094476" cy="50800"/>
          </a:xfrm>
          <a:prstGeom prst="rect">
            <a:avLst/>
          </a:prstGeom>
          <a:solidFill>
            <a:srgbClr val="0055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4476" y="0"/>
            <a:ext cx="6094476" cy="5080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10972800" cy="228600"/>
          </a:xfrm>
          <a:prstGeom prst="rect">
            <a:avLst/>
          </a:prstGeom>
          <a:noFill/>
        </p:spPr>
        <p:txBody>
          <a:bodyPr wrap="none">
            <a:spAutoFit/>
          </a:bodyPr>
          <a:lstStyle/>
          <a:p/>
          <a:p>
            <a:pPr algn="l"/>
            <a:r>
              <a:rPr sz="900" b="1" i="0">
                <a:solidFill>
                  <a:srgbClr val="0055CC"/>
                </a:solidFill>
                <a:latin typeface="Calibri"/>
              </a:rPr>
              <a:t>HOW IT WORKS -- SYSTEM OVERVIEW</a:t>
            </a:r>
          </a:p>
        </p:txBody>
      </p:sp>
      <p:sp>
        <p:nvSpPr>
          <p:cNvPr id="5" name="TextBox 4"/>
          <p:cNvSpPr txBox="1"/>
          <p:nvPr/>
        </p:nvSpPr>
        <p:spPr>
          <a:xfrm>
            <a:off x="640080" y="777240"/>
            <a:ext cx="9144000" cy="1828800"/>
          </a:xfrm>
          <a:prstGeom prst="rect">
            <a:avLst/>
          </a:prstGeom>
          <a:noFill/>
        </p:spPr>
        <p:txBody>
          <a:bodyPr wrap="square">
            <a:spAutoFit/>
          </a:bodyPr>
          <a:lstStyle/>
          <a:p/>
          <a:p>
            <a:pPr algn="l"/>
            <a:r>
              <a:rPr sz="4400" b="0" i="0">
                <a:solidFill>
                  <a:srgbClr val="0A0E20"/>
                </a:solidFill>
                <a:latin typeface="Georgia"/>
              </a:rPr>
              <a:t>The Architecture</a:t>
            </a:r>
          </a:p>
        </p:txBody>
      </p:sp>
      <p:sp>
        <p:nvSpPr>
          <p:cNvPr id="6" name="Rectangle 5"/>
          <p:cNvSpPr/>
          <p:nvPr/>
        </p:nvSpPr>
        <p:spPr>
          <a:xfrm>
            <a:off x="640080" y="1783080"/>
            <a:ext cx="658368" cy="3810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50976" y="2011680"/>
            <a:ext cx="2194560" cy="2560320"/>
          </a:xfrm>
          <a:prstGeom prst="rect">
            <a:avLst/>
          </a:prstGeom>
          <a:solidFill>
            <a:srgbClr val="FFFFFF"/>
          </a:solidFill>
          <a:ln w="9525">
            <a:solidFill>
              <a:srgbClr val="C4D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50976" y="2011680"/>
            <a:ext cx="2194560" cy="31750"/>
          </a:xfrm>
          <a:prstGeom prst="rect">
            <a:avLst/>
          </a:prstGeom>
          <a:solidFill>
            <a:srgbClr val="4E5B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77976" y="2189480"/>
            <a:ext cx="1940560" cy="279400"/>
          </a:xfrm>
          <a:prstGeom prst="rect">
            <a:avLst/>
          </a:prstGeom>
          <a:noFill/>
        </p:spPr>
        <p:txBody>
          <a:bodyPr wrap="none">
            <a:spAutoFit/>
          </a:bodyPr>
          <a:lstStyle/>
          <a:p/>
          <a:p>
            <a:pPr algn="ctr"/>
            <a:r>
              <a:rPr sz="1400" b="1" i="0">
                <a:solidFill>
                  <a:srgbClr val="0A0E20"/>
                </a:solidFill>
                <a:latin typeface="Calibri"/>
              </a:rPr>
              <a:t>You</a:t>
            </a:r>
          </a:p>
        </p:txBody>
      </p:sp>
      <p:sp>
        <p:nvSpPr>
          <p:cNvPr id="10" name="TextBox 9"/>
          <p:cNvSpPr txBox="1"/>
          <p:nvPr/>
        </p:nvSpPr>
        <p:spPr>
          <a:xfrm>
            <a:off x="1077976" y="2519680"/>
            <a:ext cx="1940560" cy="254000"/>
          </a:xfrm>
          <a:prstGeom prst="rect">
            <a:avLst/>
          </a:prstGeom>
          <a:noFill/>
        </p:spPr>
        <p:txBody>
          <a:bodyPr wrap="none">
            <a:spAutoFit/>
          </a:bodyPr>
          <a:lstStyle/>
          <a:p/>
          <a:p>
            <a:pPr algn="ctr"/>
            <a:r>
              <a:rPr sz="1100" b="0" i="0">
                <a:solidFill>
                  <a:srgbClr val="4E5B78"/>
                </a:solidFill>
                <a:latin typeface="Calibri"/>
              </a:rPr>
              <a:t>Fill in 4 fields</a:t>
            </a:r>
          </a:p>
        </p:txBody>
      </p:sp>
      <p:sp>
        <p:nvSpPr>
          <p:cNvPr id="11" name="TextBox 10"/>
          <p:cNvSpPr txBox="1"/>
          <p:nvPr/>
        </p:nvSpPr>
        <p:spPr>
          <a:xfrm>
            <a:off x="1077976" y="2773680"/>
            <a:ext cx="1940560" cy="558800"/>
          </a:xfrm>
          <a:prstGeom prst="rect">
            <a:avLst/>
          </a:prstGeom>
          <a:noFill/>
        </p:spPr>
        <p:txBody>
          <a:bodyPr wrap="square">
            <a:spAutoFit/>
          </a:bodyPr>
          <a:lstStyle/>
          <a:p/>
          <a:p>
            <a:pPr algn="ctr"/>
            <a:r>
              <a:rPr sz="1000" b="0" i="0">
                <a:solidFill>
                  <a:srgbClr val="6B7490"/>
                </a:solidFill>
                <a:latin typeface="Courier New"/>
              </a:rPr>
              <a:t>Grade . School
Activity . Career</a:t>
            </a:r>
          </a:p>
        </p:txBody>
      </p:sp>
      <p:sp>
        <p:nvSpPr>
          <p:cNvPr id="12" name="TextBox 11"/>
          <p:cNvSpPr txBox="1"/>
          <p:nvPr/>
        </p:nvSpPr>
        <p:spPr>
          <a:xfrm>
            <a:off x="3196336" y="3114040"/>
            <a:ext cx="401320" cy="330200"/>
          </a:xfrm>
          <a:prstGeom prst="rect">
            <a:avLst/>
          </a:prstGeom>
          <a:noFill/>
        </p:spPr>
        <p:txBody>
          <a:bodyPr wrap="none">
            <a:spAutoFit/>
          </a:bodyPr>
          <a:lstStyle/>
          <a:p/>
          <a:p>
            <a:pPr algn="ctr"/>
            <a:r>
              <a:rPr sz="2200" b="1" i="0">
                <a:solidFill>
                  <a:srgbClr val="D97706"/>
                </a:solidFill>
                <a:latin typeface="Calibri"/>
              </a:rPr>
              <a:t>-&gt;</a:t>
            </a:r>
          </a:p>
        </p:txBody>
      </p:sp>
      <p:sp>
        <p:nvSpPr>
          <p:cNvPr id="13" name="TextBox 12"/>
          <p:cNvSpPr txBox="1"/>
          <p:nvPr/>
        </p:nvSpPr>
        <p:spPr>
          <a:xfrm>
            <a:off x="3196336" y="3469640"/>
            <a:ext cx="401320" cy="330200"/>
          </a:xfrm>
          <a:prstGeom prst="rect">
            <a:avLst/>
          </a:prstGeom>
          <a:noFill/>
        </p:spPr>
        <p:txBody>
          <a:bodyPr wrap="none">
            <a:spAutoFit/>
          </a:bodyPr>
          <a:lstStyle/>
          <a:p/>
          <a:p>
            <a:pPr algn="ctr"/>
            <a:r>
              <a:rPr sz="800" b="1" i="0">
                <a:solidFill>
                  <a:srgbClr val="6B7490"/>
                </a:solidFill>
                <a:latin typeface="Calibri"/>
              </a:rPr>
              <a:t>Your Prompt</a:t>
            </a:r>
          </a:p>
        </p:txBody>
      </p:sp>
      <p:sp>
        <p:nvSpPr>
          <p:cNvPr id="14" name="Rectangle 13"/>
          <p:cNvSpPr/>
          <p:nvPr/>
        </p:nvSpPr>
        <p:spPr>
          <a:xfrm>
            <a:off x="3648456" y="2011680"/>
            <a:ext cx="2194560" cy="2560320"/>
          </a:xfrm>
          <a:prstGeom prst="rect">
            <a:avLst/>
          </a:prstGeom>
          <a:solidFill>
            <a:srgbClr val="FFFFFF"/>
          </a:solidFill>
          <a:ln w="9525">
            <a:solidFill>
              <a:srgbClr val="C4D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648456" y="2011680"/>
            <a:ext cx="2194560" cy="3175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75456" y="2189480"/>
            <a:ext cx="1940560" cy="279400"/>
          </a:xfrm>
          <a:prstGeom prst="rect">
            <a:avLst/>
          </a:prstGeom>
          <a:noFill/>
        </p:spPr>
        <p:txBody>
          <a:bodyPr wrap="none">
            <a:spAutoFit/>
          </a:bodyPr>
          <a:lstStyle/>
          <a:p/>
          <a:p>
            <a:pPr algn="ctr"/>
            <a:r>
              <a:rPr sz="1400" b="1" i="0">
                <a:solidFill>
                  <a:srgbClr val="0A0E20"/>
                </a:solidFill>
                <a:latin typeface="Calibri"/>
              </a:rPr>
              <a:t>Google Gemini</a:t>
            </a:r>
          </a:p>
        </p:txBody>
      </p:sp>
      <p:sp>
        <p:nvSpPr>
          <p:cNvPr id="17" name="TextBox 16"/>
          <p:cNvSpPr txBox="1"/>
          <p:nvPr/>
        </p:nvSpPr>
        <p:spPr>
          <a:xfrm>
            <a:off x="3775456" y="2519680"/>
            <a:ext cx="1940560" cy="254000"/>
          </a:xfrm>
          <a:prstGeom prst="rect">
            <a:avLst/>
          </a:prstGeom>
          <a:noFill/>
        </p:spPr>
        <p:txBody>
          <a:bodyPr wrap="none">
            <a:spAutoFit/>
          </a:bodyPr>
          <a:lstStyle/>
          <a:p/>
          <a:p>
            <a:pPr algn="ctr"/>
            <a:r>
              <a:rPr sz="1100" b="0" i="0">
                <a:solidFill>
                  <a:srgbClr val="4E5B78"/>
                </a:solidFill>
                <a:latin typeface="Calibri"/>
              </a:rPr>
              <a:t>AI generates code</a:t>
            </a:r>
          </a:p>
        </p:txBody>
      </p:sp>
      <p:sp>
        <p:nvSpPr>
          <p:cNvPr id="18" name="TextBox 17"/>
          <p:cNvSpPr txBox="1"/>
          <p:nvPr/>
        </p:nvSpPr>
        <p:spPr>
          <a:xfrm>
            <a:off x="3775456" y="2773680"/>
            <a:ext cx="1940560" cy="558800"/>
          </a:xfrm>
          <a:prstGeom prst="rect">
            <a:avLst/>
          </a:prstGeom>
          <a:noFill/>
        </p:spPr>
        <p:txBody>
          <a:bodyPr wrap="square">
            <a:spAutoFit/>
          </a:bodyPr>
          <a:lstStyle/>
          <a:p/>
          <a:p>
            <a:pPr algn="ctr"/>
            <a:r>
              <a:rPr sz="1000" b="0" i="0">
                <a:solidFill>
                  <a:srgbClr val="6B7490"/>
                </a:solidFill>
                <a:latin typeface="Courier New"/>
              </a:rPr>
              <a:t>Complete HTML + CSS
in seconds</a:t>
            </a:r>
          </a:p>
        </p:txBody>
      </p:sp>
      <p:sp>
        <p:nvSpPr>
          <p:cNvPr id="19" name="TextBox 18"/>
          <p:cNvSpPr txBox="1"/>
          <p:nvPr/>
        </p:nvSpPr>
        <p:spPr>
          <a:xfrm>
            <a:off x="5893816" y="3114040"/>
            <a:ext cx="401320" cy="330200"/>
          </a:xfrm>
          <a:prstGeom prst="rect">
            <a:avLst/>
          </a:prstGeom>
          <a:noFill/>
        </p:spPr>
        <p:txBody>
          <a:bodyPr wrap="none">
            <a:spAutoFit/>
          </a:bodyPr>
          <a:lstStyle/>
          <a:p/>
          <a:p>
            <a:pPr algn="ctr"/>
            <a:r>
              <a:rPr sz="2200" b="1" i="0">
                <a:solidFill>
                  <a:srgbClr val="D97706"/>
                </a:solidFill>
                <a:latin typeface="Calibri"/>
              </a:rPr>
              <a:t>-&gt;</a:t>
            </a:r>
          </a:p>
        </p:txBody>
      </p:sp>
      <p:sp>
        <p:nvSpPr>
          <p:cNvPr id="20" name="TextBox 19"/>
          <p:cNvSpPr txBox="1"/>
          <p:nvPr/>
        </p:nvSpPr>
        <p:spPr>
          <a:xfrm>
            <a:off x="5893816" y="3469640"/>
            <a:ext cx="401320" cy="330200"/>
          </a:xfrm>
          <a:prstGeom prst="rect">
            <a:avLst/>
          </a:prstGeom>
          <a:noFill/>
        </p:spPr>
        <p:txBody>
          <a:bodyPr wrap="none">
            <a:spAutoFit/>
          </a:bodyPr>
          <a:lstStyle/>
          <a:p/>
          <a:p>
            <a:pPr algn="ctr"/>
            <a:r>
              <a:rPr sz="800" b="1" i="0">
                <a:solidFill>
                  <a:srgbClr val="6B7490"/>
                </a:solidFill>
                <a:latin typeface="Calibri"/>
              </a:rPr>
              <a:t>Copy &amp; Paste</a:t>
            </a:r>
          </a:p>
        </p:txBody>
      </p:sp>
      <p:sp>
        <p:nvSpPr>
          <p:cNvPr id="21" name="Rectangle 20"/>
          <p:cNvSpPr/>
          <p:nvPr/>
        </p:nvSpPr>
        <p:spPr>
          <a:xfrm>
            <a:off x="6345936" y="2011680"/>
            <a:ext cx="2194560" cy="2560320"/>
          </a:xfrm>
          <a:prstGeom prst="rect">
            <a:avLst/>
          </a:prstGeom>
          <a:solidFill>
            <a:srgbClr val="FFFFFF"/>
          </a:solidFill>
          <a:ln w="9525">
            <a:solidFill>
              <a:srgbClr val="C4D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345936" y="2011680"/>
            <a:ext cx="2194560" cy="31750"/>
          </a:xfrm>
          <a:prstGeom prst="rect">
            <a:avLst/>
          </a:prstGeom>
          <a:solidFill>
            <a:srgbClr val="0055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2936" y="2189480"/>
            <a:ext cx="1940560" cy="279400"/>
          </a:xfrm>
          <a:prstGeom prst="rect">
            <a:avLst/>
          </a:prstGeom>
          <a:noFill/>
        </p:spPr>
        <p:txBody>
          <a:bodyPr wrap="none">
            <a:spAutoFit/>
          </a:bodyPr>
          <a:lstStyle/>
          <a:p/>
          <a:p>
            <a:pPr algn="ctr"/>
            <a:r>
              <a:rPr sz="1400" b="1" i="0">
                <a:solidFill>
                  <a:srgbClr val="0A0E20"/>
                </a:solidFill>
                <a:latin typeface="Calibri"/>
              </a:rPr>
              <a:t>GitHub</a:t>
            </a:r>
          </a:p>
        </p:txBody>
      </p:sp>
      <p:sp>
        <p:nvSpPr>
          <p:cNvPr id="24" name="TextBox 23"/>
          <p:cNvSpPr txBox="1"/>
          <p:nvPr/>
        </p:nvSpPr>
        <p:spPr>
          <a:xfrm>
            <a:off x="6472936" y="2519680"/>
            <a:ext cx="1940560" cy="254000"/>
          </a:xfrm>
          <a:prstGeom prst="rect">
            <a:avLst/>
          </a:prstGeom>
          <a:noFill/>
        </p:spPr>
        <p:txBody>
          <a:bodyPr wrap="none">
            <a:spAutoFit/>
          </a:bodyPr>
          <a:lstStyle/>
          <a:p/>
          <a:p>
            <a:pPr algn="ctr"/>
            <a:r>
              <a:rPr sz="1100" b="0" i="0">
                <a:solidFill>
                  <a:srgbClr val="4E5B78"/>
                </a:solidFill>
                <a:latin typeface="Calibri"/>
              </a:rPr>
              <a:t>Free file hosting</a:t>
            </a:r>
          </a:p>
        </p:txBody>
      </p:sp>
      <p:sp>
        <p:nvSpPr>
          <p:cNvPr id="25" name="TextBox 24"/>
          <p:cNvSpPr txBox="1"/>
          <p:nvPr/>
        </p:nvSpPr>
        <p:spPr>
          <a:xfrm>
            <a:off x="6472936" y="2773680"/>
            <a:ext cx="1940560" cy="558800"/>
          </a:xfrm>
          <a:prstGeom prst="rect">
            <a:avLst/>
          </a:prstGeom>
          <a:noFill/>
        </p:spPr>
        <p:txBody>
          <a:bodyPr wrap="square">
            <a:spAutoFit/>
          </a:bodyPr>
          <a:lstStyle/>
          <a:p/>
          <a:p>
            <a:pPr algn="ctr"/>
            <a:r>
              <a:rPr sz="1000" b="0" i="0">
                <a:solidFill>
                  <a:srgbClr val="6B7490"/>
                </a:solidFill>
                <a:latin typeface="Courier New"/>
              </a:rPr>
              <a:t>Web UI only --
no code, no tokens</a:t>
            </a:r>
          </a:p>
        </p:txBody>
      </p:sp>
      <p:sp>
        <p:nvSpPr>
          <p:cNvPr id="26" name="TextBox 25"/>
          <p:cNvSpPr txBox="1"/>
          <p:nvPr/>
        </p:nvSpPr>
        <p:spPr>
          <a:xfrm>
            <a:off x="8591296" y="3114040"/>
            <a:ext cx="401320" cy="330200"/>
          </a:xfrm>
          <a:prstGeom prst="rect">
            <a:avLst/>
          </a:prstGeom>
          <a:noFill/>
        </p:spPr>
        <p:txBody>
          <a:bodyPr wrap="none">
            <a:spAutoFit/>
          </a:bodyPr>
          <a:lstStyle/>
          <a:p/>
          <a:p>
            <a:pPr algn="ctr"/>
            <a:r>
              <a:rPr sz="2200" b="1" i="0">
                <a:solidFill>
                  <a:srgbClr val="D97706"/>
                </a:solidFill>
                <a:latin typeface="Calibri"/>
              </a:rPr>
              <a:t>-&gt;</a:t>
            </a:r>
          </a:p>
        </p:txBody>
      </p:sp>
      <p:sp>
        <p:nvSpPr>
          <p:cNvPr id="27" name="TextBox 26"/>
          <p:cNvSpPr txBox="1"/>
          <p:nvPr/>
        </p:nvSpPr>
        <p:spPr>
          <a:xfrm>
            <a:off x="8591296" y="3469640"/>
            <a:ext cx="401320" cy="330200"/>
          </a:xfrm>
          <a:prstGeom prst="rect">
            <a:avLst/>
          </a:prstGeom>
          <a:noFill/>
        </p:spPr>
        <p:txBody>
          <a:bodyPr wrap="none">
            <a:spAutoFit/>
          </a:bodyPr>
          <a:lstStyle/>
          <a:p/>
          <a:p>
            <a:pPr algn="ctr"/>
            <a:r>
              <a:rPr sz="800" b="1" i="0">
                <a:solidFill>
                  <a:srgbClr val="6B7490"/>
                </a:solidFill>
                <a:latin typeface="Calibri"/>
              </a:rPr>
              <a:t>Pages ON</a:t>
            </a:r>
          </a:p>
        </p:txBody>
      </p:sp>
      <p:sp>
        <p:nvSpPr>
          <p:cNvPr id="28" name="Rectangle 27"/>
          <p:cNvSpPr/>
          <p:nvPr/>
        </p:nvSpPr>
        <p:spPr>
          <a:xfrm>
            <a:off x="9043416" y="2011680"/>
            <a:ext cx="2194560" cy="2560320"/>
          </a:xfrm>
          <a:prstGeom prst="rect">
            <a:avLst/>
          </a:prstGeom>
          <a:solidFill>
            <a:srgbClr val="FFFFFF"/>
          </a:solidFill>
          <a:ln w="9525">
            <a:solidFill>
              <a:srgbClr val="C4D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043416" y="2011680"/>
            <a:ext cx="2194560" cy="3175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170416" y="2189480"/>
            <a:ext cx="1940560" cy="279400"/>
          </a:xfrm>
          <a:prstGeom prst="rect">
            <a:avLst/>
          </a:prstGeom>
          <a:noFill/>
        </p:spPr>
        <p:txBody>
          <a:bodyPr wrap="none">
            <a:spAutoFit/>
          </a:bodyPr>
          <a:lstStyle/>
          <a:p/>
          <a:p>
            <a:pPr algn="ctr"/>
            <a:r>
              <a:rPr sz="1400" b="1" i="0">
                <a:solidFill>
                  <a:srgbClr val="0A0E20"/>
                </a:solidFill>
                <a:latin typeface="Calibri"/>
              </a:rPr>
              <a:t>Live Website</a:t>
            </a:r>
          </a:p>
        </p:txBody>
      </p:sp>
      <p:sp>
        <p:nvSpPr>
          <p:cNvPr id="31" name="TextBox 30"/>
          <p:cNvSpPr txBox="1"/>
          <p:nvPr/>
        </p:nvSpPr>
        <p:spPr>
          <a:xfrm>
            <a:off x="9170416" y="2519680"/>
            <a:ext cx="1940560" cy="254000"/>
          </a:xfrm>
          <a:prstGeom prst="rect">
            <a:avLst/>
          </a:prstGeom>
          <a:noFill/>
        </p:spPr>
        <p:txBody>
          <a:bodyPr wrap="none">
            <a:spAutoFit/>
          </a:bodyPr>
          <a:lstStyle/>
          <a:p/>
          <a:p>
            <a:pPr algn="ctr"/>
            <a:r>
              <a:rPr sz="1100" b="0" i="0">
                <a:solidFill>
                  <a:srgbClr val="4E5B78"/>
                </a:solidFill>
                <a:latin typeface="Calibri"/>
              </a:rPr>
              <a:t>Public URL, free forever</a:t>
            </a:r>
          </a:p>
        </p:txBody>
      </p:sp>
      <p:sp>
        <p:nvSpPr>
          <p:cNvPr id="32" name="TextBox 31"/>
          <p:cNvSpPr txBox="1"/>
          <p:nvPr/>
        </p:nvSpPr>
        <p:spPr>
          <a:xfrm>
            <a:off x="9170416" y="2773680"/>
            <a:ext cx="1940560" cy="558800"/>
          </a:xfrm>
          <a:prstGeom prst="rect">
            <a:avLst/>
          </a:prstGeom>
          <a:noFill/>
        </p:spPr>
        <p:txBody>
          <a:bodyPr wrap="square">
            <a:spAutoFit/>
          </a:bodyPr>
          <a:lstStyle/>
          <a:p/>
          <a:p>
            <a:pPr algn="ctr"/>
            <a:r>
              <a:rPr sz="1000" b="0" i="0">
                <a:solidFill>
                  <a:srgbClr val="6B7490"/>
                </a:solidFill>
                <a:latin typeface="Courier New"/>
              </a:rPr>
              <a:t>yourname
.github.io/portfolio</a:t>
            </a:r>
          </a:p>
        </p:txBody>
      </p:sp>
      <p:sp>
        <p:nvSpPr>
          <p:cNvPr id="33" name="Rectangle 32"/>
          <p:cNvSpPr/>
          <p:nvPr/>
        </p:nvSpPr>
        <p:spPr>
          <a:xfrm>
            <a:off x="640080" y="4800600"/>
            <a:ext cx="10972800" cy="777240"/>
          </a:xfrm>
          <a:prstGeom prst="rect">
            <a:avLst/>
          </a:prstGeom>
          <a:solidFill>
            <a:srgbClr val="FFF0D8"/>
          </a:solidFill>
          <a:ln w="9525">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77240" y="4864608"/>
            <a:ext cx="10698480" cy="685800"/>
          </a:xfrm>
          <a:prstGeom prst="rect">
            <a:avLst/>
          </a:prstGeom>
          <a:noFill/>
        </p:spPr>
        <p:txBody>
          <a:bodyPr wrap="square">
            <a:spAutoFit/>
          </a:bodyPr>
          <a:lstStyle/>
          <a:p/>
          <a:p>
            <a:pPr algn="l"/>
            <a:r>
              <a:rPr sz="1200" b="0" i="0">
                <a:solidFill>
                  <a:srgbClr val="1C2240"/>
                </a:solidFill>
                <a:latin typeface="Calibri"/>
              </a:rPr>
              <a:t>No coding. No API tokens. No command line. Describe yourself -&gt; Gemini writes the site -&gt; paste one file into GitHub -&gt; flip one switch. Live on the real internet.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DF1FB"/>
        </a:solidFill>
        <a:effectLst/>
      </p:bgPr>
    </p:bg>
    <p:spTree>
      <p:nvGrpSpPr>
        <p:cNvPr id="1" name=""/>
        <p:cNvGrpSpPr/>
        <p:nvPr/>
      </p:nvGrpSpPr>
      <p:grpSpPr/>
      <p:sp>
        <p:nvSpPr>
          <p:cNvPr id="2" name="Rectangle 1"/>
          <p:cNvSpPr/>
          <p:nvPr/>
        </p:nvSpPr>
        <p:spPr>
          <a:xfrm>
            <a:off x="0" y="0"/>
            <a:ext cx="6094476" cy="50800"/>
          </a:xfrm>
          <a:prstGeom prst="rect">
            <a:avLst/>
          </a:prstGeom>
          <a:solidFill>
            <a:srgbClr val="0055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4476" y="0"/>
            <a:ext cx="6094476" cy="5080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10972800" cy="228600"/>
          </a:xfrm>
          <a:prstGeom prst="rect">
            <a:avLst/>
          </a:prstGeom>
          <a:noFill/>
        </p:spPr>
        <p:txBody>
          <a:bodyPr wrap="none">
            <a:spAutoFit/>
          </a:bodyPr>
          <a:lstStyle/>
          <a:p/>
          <a:p>
            <a:pPr algn="l"/>
            <a:r>
              <a:rPr sz="900" b="1" i="0">
                <a:solidFill>
                  <a:srgbClr val="0055CC"/>
                </a:solidFill>
                <a:latin typeface="Calibri"/>
              </a:rPr>
              <a:t>TODAY'S ACTIVITY</a:t>
            </a:r>
          </a:p>
        </p:txBody>
      </p:sp>
      <p:sp>
        <p:nvSpPr>
          <p:cNvPr id="5" name="TextBox 4"/>
          <p:cNvSpPr txBox="1"/>
          <p:nvPr/>
        </p:nvSpPr>
        <p:spPr>
          <a:xfrm>
            <a:off x="640080" y="777240"/>
            <a:ext cx="9144000" cy="1828800"/>
          </a:xfrm>
          <a:prstGeom prst="rect">
            <a:avLst/>
          </a:prstGeom>
          <a:noFill/>
        </p:spPr>
        <p:txBody>
          <a:bodyPr wrap="square">
            <a:spAutoFit/>
          </a:bodyPr>
          <a:lstStyle/>
          <a:p/>
          <a:p>
            <a:pPr algn="l"/>
            <a:r>
              <a:rPr sz="4400" b="0" i="0">
                <a:solidFill>
                  <a:srgbClr val="0A0E20"/>
                </a:solidFill>
                <a:latin typeface="Georgia"/>
              </a:rPr>
              <a:t>What You're Building</a:t>
            </a:r>
          </a:p>
        </p:txBody>
      </p:sp>
      <p:sp>
        <p:nvSpPr>
          <p:cNvPr id="6" name="Rectangle 5"/>
          <p:cNvSpPr/>
          <p:nvPr/>
        </p:nvSpPr>
        <p:spPr>
          <a:xfrm>
            <a:off x="640080" y="1783080"/>
            <a:ext cx="658368" cy="3810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920240"/>
            <a:ext cx="3429000" cy="4206240"/>
          </a:xfrm>
          <a:prstGeom prst="rect">
            <a:avLst/>
          </a:prstGeom>
          <a:solidFill>
            <a:srgbClr val="FFFFFF"/>
          </a:solidFill>
          <a:ln w="9525">
            <a:solidFill>
              <a:srgbClr val="C4D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920240"/>
            <a:ext cx="3429000" cy="31750"/>
          </a:xfrm>
          <a:prstGeom prst="rect">
            <a:avLst/>
          </a:prstGeom>
          <a:solidFill>
            <a:srgbClr val="C4D0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2480" y="2072640"/>
            <a:ext cx="3124200" cy="660400"/>
          </a:xfrm>
          <a:prstGeom prst="rect">
            <a:avLst/>
          </a:prstGeom>
          <a:noFill/>
        </p:spPr>
        <p:txBody>
          <a:bodyPr wrap="none">
            <a:spAutoFit/>
          </a:bodyPr>
          <a:lstStyle/>
          <a:p/>
          <a:p>
            <a:pPr algn="l"/>
            <a:r>
              <a:rPr sz="4800" b="0" i="0">
                <a:solidFill>
                  <a:srgbClr val="D97706"/>
                </a:solidFill>
                <a:latin typeface="Georgia"/>
              </a:rPr>
              <a:t>01</a:t>
            </a:r>
          </a:p>
        </p:txBody>
      </p:sp>
      <p:sp>
        <p:nvSpPr>
          <p:cNvPr id="10" name="TextBox 9"/>
          <p:cNvSpPr txBox="1"/>
          <p:nvPr/>
        </p:nvSpPr>
        <p:spPr>
          <a:xfrm>
            <a:off x="792480" y="2809240"/>
            <a:ext cx="3124200" cy="533400"/>
          </a:xfrm>
          <a:prstGeom prst="rect">
            <a:avLst/>
          </a:prstGeom>
          <a:noFill/>
        </p:spPr>
        <p:txBody>
          <a:bodyPr wrap="square">
            <a:spAutoFit/>
          </a:bodyPr>
          <a:lstStyle/>
          <a:p/>
          <a:p>
            <a:pPr algn="l"/>
            <a:r>
              <a:rPr sz="1400" b="1" i="0">
                <a:solidFill>
                  <a:srgbClr val="0A0E20"/>
                </a:solidFill>
                <a:latin typeface="Calibri"/>
              </a:rPr>
              <a:t>Tell Gemini about yourself</a:t>
            </a:r>
          </a:p>
        </p:txBody>
      </p:sp>
      <p:sp>
        <p:nvSpPr>
          <p:cNvPr id="11" name="TextBox 10"/>
          <p:cNvSpPr txBox="1"/>
          <p:nvPr/>
        </p:nvSpPr>
        <p:spPr>
          <a:xfrm>
            <a:off x="792480" y="3418840"/>
            <a:ext cx="3124200" cy="2011680"/>
          </a:xfrm>
          <a:prstGeom prst="rect">
            <a:avLst/>
          </a:prstGeom>
          <a:noFill/>
        </p:spPr>
        <p:txBody>
          <a:bodyPr wrap="square">
            <a:spAutoFit/>
          </a:bodyPr>
          <a:lstStyle/>
          <a:p/>
          <a:p>
            <a:pPr algn="l"/>
            <a:r>
              <a:rPr sz="1200" b="0" i="0">
                <a:solidFill>
                  <a:srgbClr val="4E5B78"/>
                </a:solidFill>
                <a:latin typeface="Calibri"/>
              </a:rPr>
              <a:t>Fill in 4 fields -- grade, school, one thing you do, and a career you're curious about. No writing experience needed.</a:t>
            </a:r>
          </a:p>
        </p:txBody>
      </p:sp>
      <p:sp>
        <p:nvSpPr>
          <p:cNvPr id="12" name="Rectangle 11"/>
          <p:cNvSpPr/>
          <p:nvPr/>
        </p:nvSpPr>
        <p:spPr>
          <a:xfrm>
            <a:off x="4233672" y="1920240"/>
            <a:ext cx="3429000" cy="4206240"/>
          </a:xfrm>
          <a:prstGeom prst="rect">
            <a:avLst/>
          </a:prstGeom>
          <a:solidFill>
            <a:srgbClr val="FFFFFF"/>
          </a:solidFill>
          <a:ln w="9525">
            <a:solidFill>
              <a:srgbClr val="C4D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33672" y="1920240"/>
            <a:ext cx="3429000" cy="3175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86072" y="2072640"/>
            <a:ext cx="3124200" cy="660400"/>
          </a:xfrm>
          <a:prstGeom prst="rect">
            <a:avLst/>
          </a:prstGeom>
          <a:noFill/>
        </p:spPr>
        <p:txBody>
          <a:bodyPr wrap="none">
            <a:spAutoFit/>
          </a:bodyPr>
          <a:lstStyle/>
          <a:p/>
          <a:p>
            <a:pPr algn="l"/>
            <a:r>
              <a:rPr sz="4800" b="0" i="0">
                <a:solidFill>
                  <a:srgbClr val="D97706"/>
                </a:solidFill>
                <a:latin typeface="Georgia"/>
              </a:rPr>
              <a:t>02</a:t>
            </a:r>
          </a:p>
        </p:txBody>
      </p:sp>
      <p:sp>
        <p:nvSpPr>
          <p:cNvPr id="15" name="TextBox 14"/>
          <p:cNvSpPr txBox="1"/>
          <p:nvPr/>
        </p:nvSpPr>
        <p:spPr>
          <a:xfrm>
            <a:off x="4386072" y="2809240"/>
            <a:ext cx="3124200" cy="533400"/>
          </a:xfrm>
          <a:prstGeom prst="rect">
            <a:avLst/>
          </a:prstGeom>
          <a:noFill/>
        </p:spPr>
        <p:txBody>
          <a:bodyPr wrap="square">
            <a:spAutoFit/>
          </a:bodyPr>
          <a:lstStyle/>
          <a:p/>
          <a:p>
            <a:pPr algn="l"/>
            <a:r>
              <a:rPr sz="1400" b="1" i="0">
                <a:solidFill>
                  <a:srgbClr val="0A0E20"/>
                </a:solidFill>
                <a:latin typeface="Calibri"/>
              </a:rPr>
              <a:t>Gemini writes your entire portfolio site</a:t>
            </a:r>
          </a:p>
        </p:txBody>
      </p:sp>
      <p:sp>
        <p:nvSpPr>
          <p:cNvPr id="16" name="TextBox 15"/>
          <p:cNvSpPr txBox="1"/>
          <p:nvPr/>
        </p:nvSpPr>
        <p:spPr>
          <a:xfrm>
            <a:off x="4386072" y="3418840"/>
            <a:ext cx="3124200" cy="2011680"/>
          </a:xfrm>
          <a:prstGeom prst="rect">
            <a:avLst/>
          </a:prstGeom>
          <a:noFill/>
        </p:spPr>
        <p:txBody>
          <a:bodyPr wrap="square">
            <a:spAutoFit/>
          </a:bodyPr>
          <a:lstStyle/>
          <a:p/>
          <a:p>
            <a:pPr algn="l"/>
            <a:r>
              <a:rPr sz="1200" b="0" i="0">
                <a:solidFill>
                  <a:srgbClr val="4E5B78"/>
                </a:solidFill>
                <a:latin typeface="Calibri"/>
              </a:rPr>
              <a:t>Not just your bio -- the complete working webpage. HTML, CSS, layout, design, all of it. Ready to publish the second you copy it.</a:t>
            </a:r>
          </a:p>
        </p:txBody>
      </p:sp>
      <p:sp>
        <p:nvSpPr>
          <p:cNvPr id="17" name="Rectangle 16"/>
          <p:cNvSpPr/>
          <p:nvPr/>
        </p:nvSpPr>
        <p:spPr>
          <a:xfrm>
            <a:off x="7827264" y="1920240"/>
            <a:ext cx="3429000" cy="4206240"/>
          </a:xfrm>
          <a:prstGeom prst="rect">
            <a:avLst/>
          </a:prstGeom>
          <a:solidFill>
            <a:srgbClr val="FFFFFF"/>
          </a:solidFill>
          <a:ln w="9525">
            <a:solidFill>
              <a:srgbClr val="C4D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827264" y="1920240"/>
            <a:ext cx="3429000" cy="31750"/>
          </a:xfrm>
          <a:prstGeom prst="rect">
            <a:avLst/>
          </a:prstGeom>
          <a:solidFill>
            <a:srgbClr val="C4D0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79664" y="2072640"/>
            <a:ext cx="3124200" cy="660400"/>
          </a:xfrm>
          <a:prstGeom prst="rect">
            <a:avLst/>
          </a:prstGeom>
          <a:noFill/>
        </p:spPr>
        <p:txBody>
          <a:bodyPr wrap="none">
            <a:spAutoFit/>
          </a:bodyPr>
          <a:lstStyle/>
          <a:p/>
          <a:p>
            <a:pPr algn="l"/>
            <a:r>
              <a:rPr sz="4800" b="0" i="0">
                <a:solidFill>
                  <a:srgbClr val="D97706"/>
                </a:solidFill>
                <a:latin typeface="Georgia"/>
              </a:rPr>
              <a:t>03</a:t>
            </a:r>
          </a:p>
        </p:txBody>
      </p:sp>
      <p:sp>
        <p:nvSpPr>
          <p:cNvPr id="20" name="TextBox 19"/>
          <p:cNvSpPr txBox="1"/>
          <p:nvPr/>
        </p:nvSpPr>
        <p:spPr>
          <a:xfrm>
            <a:off x="7979664" y="2809240"/>
            <a:ext cx="3124200" cy="533400"/>
          </a:xfrm>
          <a:prstGeom prst="rect">
            <a:avLst/>
          </a:prstGeom>
          <a:noFill/>
        </p:spPr>
        <p:txBody>
          <a:bodyPr wrap="square">
            <a:spAutoFit/>
          </a:bodyPr>
          <a:lstStyle/>
          <a:p/>
          <a:p>
            <a:pPr algn="l"/>
            <a:r>
              <a:rPr sz="1400" b="1" i="0">
                <a:solidFill>
                  <a:srgbClr val="0A0E20"/>
                </a:solidFill>
                <a:latin typeface="Calibri"/>
              </a:rPr>
              <a:t>Paste one file into GitHub</a:t>
            </a:r>
          </a:p>
        </p:txBody>
      </p:sp>
      <p:sp>
        <p:nvSpPr>
          <p:cNvPr id="21" name="TextBox 20"/>
          <p:cNvSpPr txBox="1"/>
          <p:nvPr/>
        </p:nvSpPr>
        <p:spPr>
          <a:xfrm>
            <a:off x="7979664" y="3418840"/>
            <a:ext cx="3124200" cy="2011680"/>
          </a:xfrm>
          <a:prstGeom prst="rect">
            <a:avLst/>
          </a:prstGeom>
          <a:noFill/>
        </p:spPr>
        <p:txBody>
          <a:bodyPr wrap="square">
            <a:spAutoFit/>
          </a:bodyPr>
          <a:lstStyle/>
          <a:p/>
          <a:p>
            <a:pPr algn="l"/>
            <a:r>
              <a:rPr sz="1200" b="0" i="0">
                <a:solidFill>
                  <a:srgbClr val="4E5B78"/>
                </a:solidFill>
                <a:latin typeface="Calibri"/>
              </a:rPr>
              <a:t>Go to github.com, create a free account, paste your HTML into one file, click two buttons. Your portfolio is live at a real URL.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DF1FB"/>
        </a:solidFill>
        <a:effectLst/>
      </p:bgPr>
    </p:bg>
    <p:spTree>
      <p:nvGrpSpPr>
        <p:cNvPr id="1" name=""/>
        <p:cNvGrpSpPr/>
        <p:nvPr/>
      </p:nvGrpSpPr>
      <p:grpSpPr/>
      <p:sp>
        <p:nvSpPr>
          <p:cNvPr id="2" name="Rectangle 1"/>
          <p:cNvSpPr/>
          <p:nvPr/>
        </p:nvSpPr>
        <p:spPr>
          <a:xfrm>
            <a:off x="0" y="0"/>
            <a:ext cx="6094476" cy="50800"/>
          </a:xfrm>
          <a:prstGeom prst="rect">
            <a:avLst/>
          </a:prstGeom>
          <a:solidFill>
            <a:srgbClr val="0055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4476" y="0"/>
            <a:ext cx="6094476" cy="5080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10972800" cy="228600"/>
          </a:xfrm>
          <a:prstGeom prst="rect">
            <a:avLst/>
          </a:prstGeom>
          <a:noFill/>
        </p:spPr>
        <p:txBody>
          <a:bodyPr wrap="none">
            <a:spAutoFit/>
          </a:bodyPr>
          <a:lstStyle/>
          <a:p/>
          <a:p>
            <a:pPr algn="l"/>
            <a:r>
              <a:rPr sz="900" b="1" i="0">
                <a:solidFill>
                  <a:srgbClr val="0055CC"/>
                </a:solidFill>
                <a:latin typeface="Calibri"/>
              </a:rPr>
              <a:t>THE EXERCISE -- START TO FINISH</a:t>
            </a:r>
          </a:p>
        </p:txBody>
      </p:sp>
      <p:sp>
        <p:nvSpPr>
          <p:cNvPr id="5" name="TextBox 4"/>
          <p:cNvSpPr txBox="1"/>
          <p:nvPr/>
        </p:nvSpPr>
        <p:spPr>
          <a:xfrm>
            <a:off x="640080" y="777240"/>
            <a:ext cx="9144000" cy="1828800"/>
          </a:xfrm>
          <a:prstGeom prst="rect">
            <a:avLst/>
          </a:prstGeom>
          <a:noFill/>
        </p:spPr>
        <p:txBody>
          <a:bodyPr wrap="square">
            <a:spAutoFit/>
          </a:bodyPr>
          <a:lstStyle/>
          <a:p/>
          <a:p>
            <a:pPr algn="l"/>
            <a:r>
              <a:rPr sz="4400" b="0" i="0">
                <a:solidFill>
                  <a:srgbClr val="0A0E20"/>
                </a:solidFill>
                <a:latin typeface="Georgia"/>
              </a:rPr>
              <a:t>Every Step, In Order</a:t>
            </a:r>
          </a:p>
        </p:txBody>
      </p:sp>
      <p:sp>
        <p:nvSpPr>
          <p:cNvPr id="6" name="Rectangle 5"/>
          <p:cNvSpPr/>
          <p:nvPr/>
        </p:nvSpPr>
        <p:spPr>
          <a:xfrm>
            <a:off x="640080" y="1783080"/>
            <a:ext cx="658368" cy="3810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190488" y="1920240"/>
            <a:ext cx="12700" cy="4572000"/>
          </a:xfrm>
          <a:prstGeom prst="rect">
            <a:avLst/>
          </a:prstGeom>
          <a:solidFill>
            <a:srgbClr val="C4D0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920240"/>
            <a:ext cx="5212080" cy="254000"/>
          </a:xfrm>
          <a:prstGeom prst="rect">
            <a:avLst/>
          </a:prstGeom>
          <a:noFill/>
        </p:spPr>
        <p:txBody>
          <a:bodyPr wrap="none">
            <a:spAutoFit/>
          </a:bodyPr>
          <a:lstStyle/>
          <a:p/>
          <a:p>
            <a:pPr algn="l"/>
            <a:r>
              <a:rPr sz="1000" b="1" i="0">
                <a:solidFill>
                  <a:srgbClr val="16A34A"/>
                </a:solidFill>
                <a:latin typeface="Calibri"/>
              </a:rPr>
              <a:t>IN THE ROOM  .  Today ~15 min</a:t>
            </a:r>
          </a:p>
        </p:txBody>
      </p:sp>
      <p:sp>
        <p:nvSpPr>
          <p:cNvPr id="9" name="TextBox 8"/>
          <p:cNvSpPr txBox="1"/>
          <p:nvPr/>
        </p:nvSpPr>
        <p:spPr>
          <a:xfrm>
            <a:off x="6537960" y="1920240"/>
            <a:ext cx="5212080" cy="254000"/>
          </a:xfrm>
          <a:prstGeom prst="rect">
            <a:avLst/>
          </a:prstGeom>
          <a:noFill/>
        </p:spPr>
        <p:txBody>
          <a:bodyPr wrap="none">
            <a:spAutoFit/>
          </a:bodyPr>
          <a:lstStyle/>
          <a:p/>
          <a:p>
            <a:pPr algn="l"/>
            <a:r>
              <a:rPr sz="1000" b="1" i="0">
                <a:solidFill>
                  <a:srgbClr val="0055CC"/>
                </a:solidFill>
                <a:latin typeface="Calibri"/>
              </a:rPr>
              <a:t>TAKE HOME  .  Tonight ~5 min</a:t>
            </a:r>
          </a:p>
        </p:txBody>
      </p:sp>
      <p:sp>
        <p:nvSpPr>
          <p:cNvPr id="10" name="TextBox 9"/>
          <p:cNvSpPr txBox="1"/>
          <p:nvPr/>
        </p:nvSpPr>
        <p:spPr>
          <a:xfrm>
            <a:off x="640080" y="2326640"/>
            <a:ext cx="330200" cy="355600"/>
          </a:xfrm>
          <a:prstGeom prst="rect">
            <a:avLst/>
          </a:prstGeom>
          <a:noFill/>
        </p:spPr>
        <p:txBody>
          <a:bodyPr wrap="none">
            <a:spAutoFit/>
          </a:bodyPr>
          <a:lstStyle/>
          <a:p/>
          <a:p>
            <a:pPr algn="ctr"/>
            <a:r>
              <a:rPr sz="2200" b="0" i="0">
                <a:solidFill>
                  <a:srgbClr val="D97706"/>
                </a:solidFill>
                <a:latin typeface="Georgia"/>
              </a:rPr>
              <a:t>1</a:t>
            </a:r>
          </a:p>
        </p:txBody>
      </p:sp>
      <p:sp>
        <p:nvSpPr>
          <p:cNvPr id="11" name="TextBox 10"/>
          <p:cNvSpPr txBox="1"/>
          <p:nvPr/>
        </p:nvSpPr>
        <p:spPr>
          <a:xfrm>
            <a:off x="1021080" y="2313940"/>
            <a:ext cx="4729480" cy="254000"/>
          </a:xfrm>
          <a:prstGeom prst="rect">
            <a:avLst/>
          </a:prstGeom>
          <a:noFill/>
        </p:spPr>
        <p:txBody>
          <a:bodyPr wrap="none">
            <a:spAutoFit/>
          </a:bodyPr>
          <a:lstStyle/>
          <a:p/>
          <a:p>
            <a:pPr algn="l"/>
            <a:r>
              <a:rPr sz="1200" b="1" i="0">
                <a:solidFill>
                  <a:srgbClr val="0A0E20"/>
                </a:solidFill>
                <a:latin typeface="Calibri"/>
              </a:rPr>
              <a:t>Open gemini.google.com</a:t>
            </a:r>
          </a:p>
        </p:txBody>
      </p:sp>
      <p:sp>
        <p:nvSpPr>
          <p:cNvPr id="12" name="TextBox 11"/>
          <p:cNvSpPr txBox="1"/>
          <p:nvPr/>
        </p:nvSpPr>
        <p:spPr>
          <a:xfrm>
            <a:off x="1021080" y="2555240"/>
            <a:ext cx="4729480" cy="228600"/>
          </a:xfrm>
          <a:prstGeom prst="rect">
            <a:avLst/>
          </a:prstGeom>
          <a:noFill/>
        </p:spPr>
        <p:txBody>
          <a:bodyPr wrap="none">
            <a:spAutoFit/>
          </a:bodyPr>
          <a:lstStyle/>
          <a:p/>
          <a:p>
            <a:pPr algn="l"/>
            <a:r>
              <a:rPr sz="1050" b="0" i="0">
                <a:solidFill>
                  <a:srgbClr val="4E5B78"/>
                </a:solidFill>
                <a:latin typeface="Calibri"/>
              </a:rPr>
              <a:t>Works on any phone or laptop</a:t>
            </a:r>
          </a:p>
        </p:txBody>
      </p:sp>
      <p:sp>
        <p:nvSpPr>
          <p:cNvPr id="13" name="Rectangle 12"/>
          <p:cNvSpPr/>
          <p:nvPr/>
        </p:nvSpPr>
        <p:spPr>
          <a:xfrm>
            <a:off x="1021080" y="2948940"/>
            <a:ext cx="4729480" cy="12700"/>
          </a:xfrm>
          <a:prstGeom prst="rect">
            <a:avLst/>
          </a:prstGeom>
          <a:solidFill>
            <a:srgbClr val="C4D0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3037840"/>
            <a:ext cx="330200" cy="355600"/>
          </a:xfrm>
          <a:prstGeom prst="rect">
            <a:avLst/>
          </a:prstGeom>
          <a:noFill/>
        </p:spPr>
        <p:txBody>
          <a:bodyPr wrap="none">
            <a:spAutoFit/>
          </a:bodyPr>
          <a:lstStyle/>
          <a:p/>
          <a:p>
            <a:pPr algn="ctr"/>
            <a:r>
              <a:rPr sz="2200" b="0" i="0">
                <a:solidFill>
                  <a:srgbClr val="D97706"/>
                </a:solidFill>
                <a:latin typeface="Georgia"/>
              </a:rPr>
              <a:t>2</a:t>
            </a:r>
          </a:p>
        </p:txBody>
      </p:sp>
      <p:sp>
        <p:nvSpPr>
          <p:cNvPr id="15" name="TextBox 14"/>
          <p:cNvSpPr txBox="1"/>
          <p:nvPr/>
        </p:nvSpPr>
        <p:spPr>
          <a:xfrm>
            <a:off x="1021080" y="3025140"/>
            <a:ext cx="4729480" cy="254000"/>
          </a:xfrm>
          <a:prstGeom prst="rect">
            <a:avLst/>
          </a:prstGeom>
          <a:noFill/>
        </p:spPr>
        <p:txBody>
          <a:bodyPr wrap="none">
            <a:spAutoFit/>
          </a:bodyPr>
          <a:lstStyle/>
          <a:p/>
          <a:p>
            <a:pPr algn="l"/>
            <a:r>
              <a:rPr sz="1200" b="1" i="0">
                <a:solidFill>
                  <a:srgbClr val="0A0E20"/>
                </a:solidFill>
                <a:latin typeface="Calibri"/>
              </a:rPr>
              <a:t>Go to the prompt slide</a:t>
            </a:r>
          </a:p>
        </p:txBody>
      </p:sp>
      <p:sp>
        <p:nvSpPr>
          <p:cNvPr id="16" name="TextBox 15"/>
          <p:cNvSpPr txBox="1"/>
          <p:nvPr/>
        </p:nvSpPr>
        <p:spPr>
          <a:xfrm>
            <a:off x="1021080" y="3266440"/>
            <a:ext cx="4729480" cy="228600"/>
          </a:xfrm>
          <a:prstGeom prst="rect">
            <a:avLst/>
          </a:prstGeom>
          <a:noFill/>
        </p:spPr>
        <p:txBody>
          <a:bodyPr wrap="none">
            <a:spAutoFit/>
          </a:bodyPr>
          <a:lstStyle/>
          <a:p/>
          <a:p>
            <a:pPr algn="l"/>
            <a:r>
              <a:rPr sz="1050" b="0" i="0">
                <a:solidFill>
                  <a:srgbClr val="4E5B78"/>
                </a:solidFill>
                <a:latin typeface="Calibri"/>
              </a:rPr>
              <a:t>Slide 8 -- read it before you type</a:t>
            </a:r>
          </a:p>
        </p:txBody>
      </p:sp>
      <p:sp>
        <p:nvSpPr>
          <p:cNvPr id="17" name="Rectangle 16"/>
          <p:cNvSpPr/>
          <p:nvPr/>
        </p:nvSpPr>
        <p:spPr>
          <a:xfrm>
            <a:off x="1021080" y="3660140"/>
            <a:ext cx="4729480" cy="12700"/>
          </a:xfrm>
          <a:prstGeom prst="rect">
            <a:avLst/>
          </a:prstGeom>
          <a:solidFill>
            <a:srgbClr val="C4D0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3749040"/>
            <a:ext cx="330200" cy="355600"/>
          </a:xfrm>
          <a:prstGeom prst="rect">
            <a:avLst/>
          </a:prstGeom>
          <a:noFill/>
        </p:spPr>
        <p:txBody>
          <a:bodyPr wrap="none">
            <a:spAutoFit/>
          </a:bodyPr>
          <a:lstStyle/>
          <a:p/>
          <a:p>
            <a:pPr algn="ctr"/>
            <a:r>
              <a:rPr sz="2200" b="0" i="0">
                <a:solidFill>
                  <a:srgbClr val="D97706"/>
                </a:solidFill>
                <a:latin typeface="Georgia"/>
              </a:rPr>
              <a:t>3</a:t>
            </a:r>
          </a:p>
        </p:txBody>
      </p:sp>
      <p:sp>
        <p:nvSpPr>
          <p:cNvPr id="19" name="TextBox 18"/>
          <p:cNvSpPr txBox="1"/>
          <p:nvPr/>
        </p:nvSpPr>
        <p:spPr>
          <a:xfrm>
            <a:off x="1021080" y="3736340"/>
            <a:ext cx="4729480" cy="254000"/>
          </a:xfrm>
          <a:prstGeom prst="rect">
            <a:avLst/>
          </a:prstGeom>
          <a:noFill/>
        </p:spPr>
        <p:txBody>
          <a:bodyPr wrap="none">
            <a:spAutoFit/>
          </a:bodyPr>
          <a:lstStyle/>
          <a:p/>
          <a:p>
            <a:pPr algn="l"/>
            <a:r>
              <a:rPr sz="1200" b="1" i="0">
                <a:solidFill>
                  <a:srgbClr val="0A0E20"/>
                </a:solidFill>
                <a:latin typeface="Calibri"/>
              </a:rPr>
              <a:t>Fill in your 4 fields</a:t>
            </a:r>
          </a:p>
        </p:txBody>
      </p:sp>
      <p:sp>
        <p:nvSpPr>
          <p:cNvPr id="20" name="TextBox 19"/>
          <p:cNvSpPr txBox="1"/>
          <p:nvPr/>
        </p:nvSpPr>
        <p:spPr>
          <a:xfrm>
            <a:off x="1021080" y="3977640"/>
            <a:ext cx="4729480" cy="228600"/>
          </a:xfrm>
          <a:prstGeom prst="rect">
            <a:avLst/>
          </a:prstGeom>
          <a:noFill/>
        </p:spPr>
        <p:txBody>
          <a:bodyPr wrap="none">
            <a:spAutoFit/>
          </a:bodyPr>
          <a:lstStyle/>
          <a:p/>
          <a:p>
            <a:pPr algn="l"/>
            <a:r>
              <a:rPr sz="1050" b="0" i="0">
                <a:solidFill>
                  <a:srgbClr val="4E5B78"/>
                </a:solidFill>
                <a:latin typeface="Calibri"/>
              </a:rPr>
              <a:t>Grade . School . Activity . Career</a:t>
            </a:r>
          </a:p>
        </p:txBody>
      </p:sp>
      <p:sp>
        <p:nvSpPr>
          <p:cNvPr id="21" name="Rectangle 20"/>
          <p:cNvSpPr/>
          <p:nvPr/>
        </p:nvSpPr>
        <p:spPr>
          <a:xfrm>
            <a:off x="1021080" y="4371340"/>
            <a:ext cx="4729480" cy="12700"/>
          </a:xfrm>
          <a:prstGeom prst="rect">
            <a:avLst/>
          </a:prstGeom>
          <a:solidFill>
            <a:srgbClr val="C4D0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4460240"/>
            <a:ext cx="330200" cy="355600"/>
          </a:xfrm>
          <a:prstGeom prst="rect">
            <a:avLst/>
          </a:prstGeom>
          <a:noFill/>
        </p:spPr>
        <p:txBody>
          <a:bodyPr wrap="none">
            <a:spAutoFit/>
          </a:bodyPr>
          <a:lstStyle/>
          <a:p/>
          <a:p>
            <a:pPr algn="ctr"/>
            <a:r>
              <a:rPr sz="2200" b="0" i="0">
                <a:solidFill>
                  <a:srgbClr val="D97706"/>
                </a:solidFill>
                <a:latin typeface="Georgia"/>
              </a:rPr>
              <a:t>4</a:t>
            </a:r>
          </a:p>
        </p:txBody>
      </p:sp>
      <p:sp>
        <p:nvSpPr>
          <p:cNvPr id="23" name="TextBox 22"/>
          <p:cNvSpPr txBox="1"/>
          <p:nvPr/>
        </p:nvSpPr>
        <p:spPr>
          <a:xfrm>
            <a:off x="1021080" y="4447540"/>
            <a:ext cx="4729480" cy="254000"/>
          </a:xfrm>
          <a:prstGeom prst="rect">
            <a:avLst/>
          </a:prstGeom>
          <a:noFill/>
        </p:spPr>
        <p:txBody>
          <a:bodyPr wrap="none">
            <a:spAutoFit/>
          </a:bodyPr>
          <a:lstStyle/>
          <a:p/>
          <a:p>
            <a:pPr algn="l"/>
            <a:r>
              <a:rPr sz="1200" b="1" i="0">
                <a:solidFill>
                  <a:srgbClr val="0A0E20"/>
                </a:solidFill>
                <a:latin typeface="Calibri"/>
              </a:rPr>
              <a:t>Run it -- scroll through output</a:t>
            </a:r>
          </a:p>
        </p:txBody>
      </p:sp>
      <p:sp>
        <p:nvSpPr>
          <p:cNvPr id="24" name="TextBox 23"/>
          <p:cNvSpPr txBox="1"/>
          <p:nvPr/>
        </p:nvSpPr>
        <p:spPr>
          <a:xfrm>
            <a:off x="1021080" y="4688840"/>
            <a:ext cx="4729480" cy="228600"/>
          </a:xfrm>
          <a:prstGeom prst="rect">
            <a:avLst/>
          </a:prstGeom>
          <a:noFill/>
        </p:spPr>
        <p:txBody>
          <a:bodyPr wrap="none">
            <a:spAutoFit/>
          </a:bodyPr>
          <a:lstStyle/>
          <a:p/>
          <a:p>
            <a:pPr algn="l"/>
            <a:r>
              <a:rPr sz="1050" b="0" i="0">
                <a:solidFill>
                  <a:srgbClr val="4E5B78"/>
                </a:solidFill>
                <a:latin typeface="Calibri"/>
              </a:rPr>
              <a:t>You'll see a complete HTML webpage</a:t>
            </a:r>
          </a:p>
        </p:txBody>
      </p:sp>
      <p:sp>
        <p:nvSpPr>
          <p:cNvPr id="25" name="Rectangle 24"/>
          <p:cNvSpPr/>
          <p:nvPr/>
        </p:nvSpPr>
        <p:spPr>
          <a:xfrm>
            <a:off x="1021080" y="5082540"/>
            <a:ext cx="4729480" cy="12700"/>
          </a:xfrm>
          <a:prstGeom prst="rect">
            <a:avLst/>
          </a:prstGeom>
          <a:solidFill>
            <a:srgbClr val="C4D0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5171440"/>
            <a:ext cx="330200" cy="355600"/>
          </a:xfrm>
          <a:prstGeom prst="rect">
            <a:avLst/>
          </a:prstGeom>
          <a:noFill/>
        </p:spPr>
        <p:txBody>
          <a:bodyPr wrap="none">
            <a:spAutoFit/>
          </a:bodyPr>
          <a:lstStyle/>
          <a:p/>
          <a:p>
            <a:pPr algn="ctr"/>
            <a:r>
              <a:rPr sz="2200" b="0" i="0">
                <a:solidFill>
                  <a:srgbClr val="D97706"/>
                </a:solidFill>
                <a:latin typeface="Georgia"/>
              </a:rPr>
              <a:t>5</a:t>
            </a:r>
          </a:p>
        </p:txBody>
      </p:sp>
      <p:sp>
        <p:nvSpPr>
          <p:cNvPr id="27" name="TextBox 26"/>
          <p:cNvSpPr txBox="1"/>
          <p:nvPr/>
        </p:nvSpPr>
        <p:spPr>
          <a:xfrm>
            <a:off x="1021080" y="5158740"/>
            <a:ext cx="4729480" cy="254000"/>
          </a:xfrm>
          <a:prstGeom prst="rect">
            <a:avLst/>
          </a:prstGeom>
          <a:noFill/>
        </p:spPr>
        <p:txBody>
          <a:bodyPr wrap="none">
            <a:spAutoFit/>
          </a:bodyPr>
          <a:lstStyle/>
          <a:p/>
          <a:p>
            <a:pPr algn="l"/>
            <a:r>
              <a:rPr sz="1200" b="1" i="0">
                <a:solidFill>
                  <a:srgbClr val="0A0E20"/>
                </a:solidFill>
                <a:latin typeface="Calibri"/>
              </a:rPr>
              <a:t>Select all -&gt; Copy</a:t>
            </a:r>
          </a:p>
        </p:txBody>
      </p:sp>
      <p:sp>
        <p:nvSpPr>
          <p:cNvPr id="28" name="TextBox 27"/>
          <p:cNvSpPr txBox="1"/>
          <p:nvPr/>
        </p:nvSpPr>
        <p:spPr>
          <a:xfrm>
            <a:off x="1021080" y="5400040"/>
            <a:ext cx="4729480" cy="228600"/>
          </a:xfrm>
          <a:prstGeom prst="rect">
            <a:avLst/>
          </a:prstGeom>
          <a:noFill/>
        </p:spPr>
        <p:txBody>
          <a:bodyPr wrap="none">
            <a:spAutoFit/>
          </a:bodyPr>
          <a:lstStyle/>
          <a:p/>
          <a:p>
            <a:pPr algn="l"/>
            <a:r>
              <a:rPr sz="1050" b="0" i="0">
                <a:solidFill>
                  <a:srgbClr val="4E5B78"/>
                </a:solidFill>
                <a:latin typeface="Calibri"/>
              </a:rPr>
              <a:t>Ctrl+A then Ctrl+C (Cmd on Mac)</a:t>
            </a:r>
          </a:p>
        </p:txBody>
      </p:sp>
      <p:sp>
        <p:nvSpPr>
          <p:cNvPr id="29" name="TextBox 28"/>
          <p:cNvSpPr txBox="1"/>
          <p:nvPr/>
        </p:nvSpPr>
        <p:spPr>
          <a:xfrm>
            <a:off x="6537960" y="2326640"/>
            <a:ext cx="330200" cy="355600"/>
          </a:xfrm>
          <a:prstGeom prst="rect">
            <a:avLst/>
          </a:prstGeom>
          <a:noFill/>
        </p:spPr>
        <p:txBody>
          <a:bodyPr wrap="none">
            <a:spAutoFit/>
          </a:bodyPr>
          <a:lstStyle/>
          <a:p/>
          <a:p>
            <a:pPr algn="ctr"/>
            <a:r>
              <a:rPr sz="2200" b="0" i="0">
                <a:solidFill>
                  <a:srgbClr val="0055CC"/>
                </a:solidFill>
                <a:latin typeface="Georgia"/>
              </a:rPr>
              <a:t>6</a:t>
            </a:r>
          </a:p>
        </p:txBody>
      </p:sp>
      <p:sp>
        <p:nvSpPr>
          <p:cNvPr id="30" name="TextBox 29"/>
          <p:cNvSpPr txBox="1"/>
          <p:nvPr/>
        </p:nvSpPr>
        <p:spPr>
          <a:xfrm>
            <a:off x="6918960" y="2313940"/>
            <a:ext cx="4729480" cy="254000"/>
          </a:xfrm>
          <a:prstGeom prst="rect">
            <a:avLst/>
          </a:prstGeom>
          <a:noFill/>
        </p:spPr>
        <p:txBody>
          <a:bodyPr wrap="none">
            <a:spAutoFit/>
          </a:bodyPr>
          <a:lstStyle/>
          <a:p/>
          <a:p>
            <a:pPr algn="l"/>
            <a:r>
              <a:rPr sz="1200" b="1" i="0">
                <a:solidFill>
                  <a:srgbClr val="0A0E20"/>
                </a:solidFill>
                <a:latin typeface="Calibri"/>
              </a:rPr>
              <a:t>Create a free GitHub account</a:t>
            </a:r>
          </a:p>
        </p:txBody>
      </p:sp>
      <p:sp>
        <p:nvSpPr>
          <p:cNvPr id="31" name="TextBox 30"/>
          <p:cNvSpPr txBox="1"/>
          <p:nvPr/>
        </p:nvSpPr>
        <p:spPr>
          <a:xfrm>
            <a:off x="6918960" y="2555240"/>
            <a:ext cx="4729480" cy="228600"/>
          </a:xfrm>
          <a:prstGeom prst="rect">
            <a:avLst/>
          </a:prstGeom>
          <a:noFill/>
        </p:spPr>
        <p:txBody>
          <a:bodyPr wrap="none">
            <a:spAutoFit/>
          </a:bodyPr>
          <a:lstStyle/>
          <a:p/>
          <a:p>
            <a:pPr algn="l"/>
            <a:r>
              <a:rPr sz="1050" b="0" i="0">
                <a:solidFill>
                  <a:srgbClr val="4E5B78"/>
                </a:solidFill>
                <a:latin typeface="Calibri"/>
              </a:rPr>
              <a:t>github.com -- any email, 2 minutes</a:t>
            </a:r>
          </a:p>
        </p:txBody>
      </p:sp>
      <p:sp>
        <p:nvSpPr>
          <p:cNvPr id="32" name="Rectangle 31"/>
          <p:cNvSpPr/>
          <p:nvPr/>
        </p:nvSpPr>
        <p:spPr>
          <a:xfrm>
            <a:off x="6918960" y="2948940"/>
            <a:ext cx="4729480" cy="12700"/>
          </a:xfrm>
          <a:prstGeom prst="rect">
            <a:avLst/>
          </a:prstGeom>
          <a:solidFill>
            <a:srgbClr val="C4D0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37960" y="3037840"/>
            <a:ext cx="330200" cy="355600"/>
          </a:xfrm>
          <a:prstGeom prst="rect">
            <a:avLst/>
          </a:prstGeom>
          <a:noFill/>
        </p:spPr>
        <p:txBody>
          <a:bodyPr wrap="none">
            <a:spAutoFit/>
          </a:bodyPr>
          <a:lstStyle/>
          <a:p/>
          <a:p>
            <a:pPr algn="ctr"/>
            <a:r>
              <a:rPr sz="2200" b="0" i="0">
                <a:solidFill>
                  <a:srgbClr val="0055CC"/>
                </a:solidFill>
                <a:latin typeface="Georgia"/>
              </a:rPr>
              <a:t>7</a:t>
            </a:r>
          </a:p>
        </p:txBody>
      </p:sp>
      <p:sp>
        <p:nvSpPr>
          <p:cNvPr id="34" name="TextBox 33"/>
          <p:cNvSpPr txBox="1"/>
          <p:nvPr/>
        </p:nvSpPr>
        <p:spPr>
          <a:xfrm>
            <a:off x="6918960" y="3025140"/>
            <a:ext cx="4729480" cy="254000"/>
          </a:xfrm>
          <a:prstGeom prst="rect">
            <a:avLst/>
          </a:prstGeom>
          <a:noFill/>
        </p:spPr>
        <p:txBody>
          <a:bodyPr wrap="none">
            <a:spAutoFit/>
          </a:bodyPr>
          <a:lstStyle/>
          <a:p/>
          <a:p>
            <a:pPr algn="l"/>
            <a:r>
              <a:rPr sz="1200" b="1" i="0">
                <a:solidFill>
                  <a:srgbClr val="0A0E20"/>
                </a:solidFill>
                <a:latin typeface="Calibri"/>
              </a:rPr>
              <a:t>New repo -&gt; Public -&gt; Create</a:t>
            </a:r>
          </a:p>
        </p:txBody>
      </p:sp>
      <p:sp>
        <p:nvSpPr>
          <p:cNvPr id="35" name="TextBox 34"/>
          <p:cNvSpPr txBox="1"/>
          <p:nvPr/>
        </p:nvSpPr>
        <p:spPr>
          <a:xfrm>
            <a:off x="6918960" y="3266440"/>
            <a:ext cx="4729480" cy="228600"/>
          </a:xfrm>
          <a:prstGeom prst="rect">
            <a:avLst/>
          </a:prstGeom>
          <a:noFill/>
        </p:spPr>
        <p:txBody>
          <a:bodyPr wrap="none">
            <a:spAutoFit/>
          </a:bodyPr>
          <a:lstStyle/>
          <a:p/>
          <a:p>
            <a:pPr algn="l"/>
            <a:r>
              <a:rPr sz="1050" b="0" i="0">
                <a:solidFill>
                  <a:srgbClr val="4E5B78"/>
                </a:solidFill>
                <a:latin typeface="Calibri"/>
              </a:rPr>
              <a:t>Click + at top right to start</a:t>
            </a:r>
          </a:p>
        </p:txBody>
      </p:sp>
      <p:sp>
        <p:nvSpPr>
          <p:cNvPr id="36" name="Rectangle 35"/>
          <p:cNvSpPr/>
          <p:nvPr/>
        </p:nvSpPr>
        <p:spPr>
          <a:xfrm>
            <a:off x="6918960" y="3660140"/>
            <a:ext cx="4729480" cy="12700"/>
          </a:xfrm>
          <a:prstGeom prst="rect">
            <a:avLst/>
          </a:prstGeom>
          <a:solidFill>
            <a:srgbClr val="C4D0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37960" y="3749040"/>
            <a:ext cx="330200" cy="355600"/>
          </a:xfrm>
          <a:prstGeom prst="rect">
            <a:avLst/>
          </a:prstGeom>
          <a:noFill/>
        </p:spPr>
        <p:txBody>
          <a:bodyPr wrap="none">
            <a:spAutoFit/>
          </a:bodyPr>
          <a:lstStyle/>
          <a:p/>
          <a:p>
            <a:pPr algn="ctr"/>
            <a:r>
              <a:rPr sz="2200" b="0" i="0">
                <a:solidFill>
                  <a:srgbClr val="0055CC"/>
                </a:solidFill>
                <a:latin typeface="Georgia"/>
              </a:rPr>
              <a:t>8</a:t>
            </a:r>
          </a:p>
        </p:txBody>
      </p:sp>
      <p:sp>
        <p:nvSpPr>
          <p:cNvPr id="38" name="TextBox 37"/>
          <p:cNvSpPr txBox="1"/>
          <p:nvPr/>
        </p:nvSpPr>
        <p:spPr>
          <a:xfrm>
            <a:off x="6918960" y="3736340"/>
            <a:ext cx="4729480" cy="254000"/>
          </a:xfrm>
          <a:prstGeom prst="rect">
            <a:avLst/>
          </a:prstGeom>
          <a:noFill/>
        </p:spPr>
        <p:txBody>
          <a:bodyPr wrap="none">
            <a:spAutoFit/>
          </a:bodyPr>
          <a:lstStyle/>
          <a:p/>
          <a:p>
            <a:pPr algn="l"/>
            <a:r>
              <a:rPr sz="1200" b="1" i="0">
                <a:solidFill>
                  <a:srgbClr val="0A0E20"/>
                </a:solidFill>
                <a:latin typeface="Calibri"/>
              </a:rPr>
              <a:t>Add file -&gt; Create new -&gt; index.html</a:t>
            </a:r>
          </a:p>
        </p:txBody>
      </p:sp>
      <p:sp>
        <p:nvSpPr>
          <p:cNvPr id="39" name="TextBox 38"/>
          <p:cNvSpPr txBox="1"/>
          <p:nvPr/>
        </p:nvSpPr>
        <p:spPr>
          <a:xfrm>
            <a:off x="6918960" y="3977640"/>
            <a:ext cx="4729480" cy="228600"/>
          </a:xfrm>
          <a:prstGeom prst="rect">
            <a:avLst/>
          </a:prstGeom>
          <a:noFill/>
        </p:spPr>
        <p:txBody>
          <a:bodyPr wrap="none">
            <a:spAutoFit/>
          </a:bodyPr>
          <a:lstStyle/>
          <a:p/>
          <a:p>
            <a:pPr algn="l"/>
            <a:r>
              <a:rPr sz="1050" b="0" i="0">
                <a:solidFill>
                  <a:srgbClr val="4E5B78"/>
                </a:solidFill>
                <a:latin typeface="Calibri"/>
              </a:rPr>
              <a:t>Name it exactly 'index.html'</a:t>
            </a:r>
          </a:p>
        </p:txBody>
      </p:sp>
      <p:sp>
        <p:nvSpPr>
          <p:cNvPr id="40" name="Rectangle 39"/>
          <p:cNvSpPr/>
          <p:nvPr/>
        </p:nvSpPr>
        <p:spPr>
          <a:xfrm>
            <a:off x="6918960" y="4371340"/>
            <a:ext cx="4729480" cy="12700"/>
          </a:xfrm>
          <a:prstGeom prst="rect">
            <a:avLst/>
          </a:prstGeom>
          <a:solidFill>
            <a:srgbClr val="C4D0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37960" y="4460240"/>
            <a:ext cx="330200" cy="355600"/>
          </a:xfrm>
          <a:prstGeom prst="rect">
            <a:avLst/>
          </a:prstGeom>
          <a:noFill/>
        </p:spPr>
        <p:txBody>
          <a:bodyPr wrap="none">
            <a:spAutoFit/>
          </a:bodyPr>
          <a:lstStyle/>
          <a:p/>
          <a:p>
            <a:pPr algn="ctr"/>
            <a:r>
              <a:rPr sz="2200" b="0" i="0">
                <a:solidFill>
                  <a:srgbClr val="0055CC"/>
                </a:solidFill>
                <a:latin typeface="Georgia"/>
              </a:rPr>
              <a:t>9</a:t>
            </a:r>
          </a:p>
        </p:txBody>
      </p:sp>
      <p:sp>
        <p:nvSpPr>
          <p:cNvPr id="42" name="TextBox 41"/>
          <p:cNvSpPr txBox="1"/>
          <p:nvPr/>
        </p:nvSpPr>
        <p:spPr>
          <a:xfrm>
            <a:off x="6918960" y="4447540"/>
            <a:ext cx="4729480" cy="254000"/>
          </a:xfrm>
          <a:prstGeom prst="rect">
            <a:avLst/>
          </a:prstGeom>
          <a:noFill/>
        </p:spPr>
        <p:txBody>
          <a:bodyPr wrap="none">
            <a:spAutoFit/>
          </a:bodyPr>
          <a:lstStyle/>
          <a:p/>
          <a:p>
            <a:pPr algn="l"/>
            <a:r>
              <a:rPr sz="1200" b="1" i="0">
                <a:solidFill>
                  <a:srgbClr val="0A0E20"/>
                </a:solidFill>
                <a:latin typeface="Calibri"/>
              </a:rPr>
              <a:t>Paste HTML -&gt; Commit changes</a:t>
            </a:r>
          </a:p>
        </p:txBody>
      </p:sp>
      <p:sp>
        <p:nvSpPr>
          <p:cNvPr id="43" name="TextBox 42"/>
          <p:cNvSpPr txBox="1"/>
          <p:nvPr/>
        </p:nvSpPr>
        <p:spPr>
          <a:xfrm>
            <a:off x="6918960" y="4688840"/>
            <a:ext cx="4729480" cy="228600"/>
          </a:xfrm>
          <a:prstGeom prst="rect">
            <a:avLst/>
          </a:prstGeom>
          <a:noFill/>
        </p:spPr>
        <p:txBody>
          <a:bodyPr wrap="none">
            <a:spAutoFit/>
          </a:bodyPr>
          <a:lstStyle/>
          <a:p/>
          <a:p>
            <a:pPr algn="l"/>
            <a:r>
              <a:rPr sz="1050" b="0" i="0">
                <a:solidFill>
                  <a:srgbClr val="4E5B78"/>
                </a:solidFill>
                <a:latin typeface="Calibri"/>
              </a:rPr>
              <a:t>Paste everything, click Commit</a:t>
            </a:r>
          </a:p>
        </p:txBody>
      </p:sp>
      <p:sp>
        <p:nvSpPr>
          <p:cNvPr id="44" name="Rectangle 43"/>
          <p:cNvSpPr/>
          <p:nvPr/>
        </p:nvSpPr>
        <p:spPr>
          <a:xfrm>
            <a:off x="6918960" y="5082540"/>
            <a:ext cx="4729480" cy="12700"/>
          </a:xfrm>
          <a:prstGeom prst="rect">
            <a:avLst/>
          </a:prstGeom>
          <a:solidFill>
            <a:srgbClr val="C4D0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537960" y="5171440"/>
            <a:ext cx="330200" cy="355600"/>
          </a:xfrm>
          <a:prstGeom prst="rect">
            <a:avLst/>
          </a:prstGeom>
          <a:noFill/>
        </p:spPr>
        <p:txBody>
          <a:bodyPr wrap="none">
            <a:spAutoFit/>
          </a:bodyPr>
          <a:lstStyle/>
          <a:p/>
          <a:p>
            <a:pPr algn="ctr"/>
            <a:r>
              <a:rPr sz="2200" b="0" i="0">
                <a:solidFill>
                  <a:srgbClr val="0055CC"/>
                </a:solidFill>
                <a:latin typeface="Georgia"/>
              </a:rPr>
              <a:t>10</a:t>
            </a:r>
          </a:p>
        </p:txBody>
      </p:sp>
      <p:sp>
        <p:nvSpPr>
          <p:cNvPr id="46" name="TextBox 45"/>
          <p:cNvSpPr txBox="1"/>
          <p:nvPr/>
        </p:nvSpPr>
        <p:spPr>
          <a:xfrm>
            <a:off x="6918960" y="5158740"/>
            <a:ext cx="4729480" cy="254000"/>
          </a:xfrm>
          <a:prstGeom prst="rect">
            <a:avLst/>
          </a:prstGeom>
          <a:noFill/>
        </p:spPr>
        <p:txBody>
          <a:bodyPr wrap="none">
            <a:spAutoFit/>
          </a:bodyPr>
          <a:lstStyle/>
          <a:p/>
          <a:p>
            <a:pPr algn="l"/>
            <a:r>
              <a:rPr sz="1200" b="1" i="0">
                <a:solidFill>
                  <a:srgbClr val="0A0E20"/>
                </a:solidFill>
                <a:latin typeface="Calibri"/>
              </a:rPr>
              <a:t>Settings -&gt; Pages -&gt; main -&gt; Save</a:t>
            </a:r>
          </a:p>
        </p:txBody>
      </p:sp>
      <p:sp>
        <p:nvSpPr>
          <p:cNvPr id="47" name="TextBox 46"/>
          <p:cNvSpPr txBox="1"/>
          <p:nvPr/>
        </p:nvSpPr>
        <p:spPr>
          <a:xfrm>
            <a:off x="6918960" y="5400040"/>
            <a:ext cx="4729480" cy="228600"/>
          </a:xfrm>
          <a:prstGeom prst="rect">
            <a:avLst/>
          </a:prstGeom>
          <a:noFill/>
        </p:spPr>
        <p:txBody>
          <a:bodyPr wrap="none">
            <a:spAutoFit/>
          </a:bodyPr>
          <a:lstStyle/>
          <a:p/>
          <a:p>
            <a:pPr algn="l"/>
            <a:r>
              <a:rPr sz="1050" b="0" i="0">
                <a:solidFill>
                  <a:srgbClr val="4E5B78"/>
                </a:solidFill>
                <a:latin typeface="Calibri"/>
              </a:rPr>
              <a:t>Live in 60s at yourname.github.io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EDF1FB"/>
        </a:solidFill>
        <a:effectLst/>
      </p:bgPr>
    </p:bg>
    <p:spTree>
      <p:nvGrpSpPr>
        <p:cNvPr id="1" name=""/>
        <p:cNvGrpSpPr/>
        <p:nvPr/>
      </p:nvGrpSpPr>
      <p:grpSpPr/>
      <p:sp>
        <p:nvSpPr>
          <p:cNvPr id="2" name="Rectangle 1"/>
          <p:cNvSpPr/>
          <p:nvPr/>
        </p:nvSpPr>
        <p:spPr>
          <a:xfrm>
            <a:off x="0" y="0"/>
            <a:ext cx="6094476" cy="50800"/>
          </a:xfrm>
          <a:prstGeom prst="rect">
            <a:avLst/>
          </a:prstGeom>
          <a:solidFill>
            <a:srgbClr val="0055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4476" y="0"/>
            <a:ext cx="6094476" cy="5080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10972800" cy="228600"/>
          </a:xfrm>
          <a:prstGeom prst="rect">
            <a:avLst/>
          </a:prstGeom>
          <a:noFill/>
        </p:spPr>
        <p:txBody>
          <a:bodyPr wrap="none">
            <a:spAutoFit/>
          </a:bodyPr>
          <a:lstStyle/>
          <a:p/>
          <a:p>
            <a:pPr algn="l"/>
            <a:r>
              <a:rPr sz="900" b="1" i="0">
                <a:solidFill>
                  <a:srgbClr val="0055CC"/>
                </a:solidFill>
                <a:latin typeface="Calibri"/>
              </a:rPr>
              <a:t>STEP 1 -- OPEN GEMINI</a:t>
            </a:r>
          </a:p>
        </p:txBody>
      </p:sp>
      <p:sp>
        <p:nvSpPr>
          <p:cNvPr id="5" name="TextBox 4"/>
          <p:cNvSpPr txBox="1"/>
          <p:nvPr/>
        </p:nvSpPr>
        <p:spPr>
          <a:xfrm>
            <a:off x="640080" y="777240"/>
            <a:ext cx="9144000" cy="1828800"/>
          </a:xfrm>
          <a:prstGeom prst="rect">
            <a:avLst/>
          </a:prstGeom>
          <a:noFill/>
        </p:spPr>
        <p:txBody>
          <a:bodyPr wrap="square">
            <a:spAutoFit/>
          </a:bodyPr>
          <a:lstStyle/>
          <a:p/>
          <a:p>
            <a:pPr algn="l"/>
            <a:r>
              <a:rPr sz="4400" b="0" i="0">
                <a:solidFill>
                  <a:srgbClr val="0A0E20"/>
                </a:solidFill>
                <a:latin typeface="Georgia"/>
              </a:rPr>
              <a:t>Copy This Prompt</a:t>
            </a:r>
          </a:p>
        </p:txBody>
      </p:sp>
      <p:sp>
        <p:nvSpPr>
          <p:cNvPr id="6" name="Rectangle 5"/>
          <p:cNvSpPr/>
          <p:nvPr/>
        </p:nvSpPr>
        <p:spPr>
          <a:xfrm>
            <a:off x="640080" y="1783080"/>
            <a:ext cx="658368" cy="3810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901952"/>
            <a:ext cx="2560320" cy="22860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901952"/>
            <a:ext cx="2560320" cy="228600"/>
          </a:xfrm>
          <a:prstGeom prst="rect">
            <a:avLst/>
          </a:prstGeom>
          <a:noFill/>
        </p:spPr>
        <p:txBody>
          <a:bodyPr wrap="none">
            <a:spAutoFit/>
          </a:bodyPr>
          <a:lstStyle/>
          <a:p/>
          <a:p>
            <a:pPr algn="ctr"/>
            <a:r>
              <a:rPr sz="700" b="1" i="0">
                <a:solidFill>
                  <a:srgbClr val="000000"/>
                </a:solidFill>
                <a:latin typeface="Calibri"/>
              </a:rPr>
              <a:t>PASTE INTO GEMINI.GOOGLE.COM</a:t>
            </a:r>
          </a:p>
        </p:txBody>
      </p:sp>
      <p:sp>
        <p:nvSpPr>
          <p:cNvPr id="9" name="Rectangle 8"/>
          <p:cNvSpPr/>
          <p:nvPr/>
        </p:nvSpPr>
        <p:spPr>
          <a:xfrm>
            <a:off x="640080" y="2103120"/>
            <a:ext cx="10972800" cy="2743200"/>
          </a:xfrm>
          <a:prstGeom prst="rect">
            <a:avLst/>
          </a:prstGeom>
          <a:solidFill>
            <a:srgbClr val="F0F4FF"/>
          </a:solidFill>
          <a:ln w="9525">
            <a:solidFill>
              <a:srgbClr val="C4D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176272"/>
            <a:ext cx="10607040" cy="203200"/>
          </a:xfrm>
          <a:prstGeom prst="rect">
            <a:avLst/>
          </a:prstGeom>
          <a:noFill/>
        </p:spPr>
        <p:txBody>
          <a:bodyPr wrap="none">
            <a:spAutoFit/>
          </a:bodyPr>
          <a:lstStyle/>
          <a:p/>
          <a:p>
            <a:r>
              <a:rPr sz="1150" b="0" i="0">
                <a:solidFill>
                  <a:srgbClr val="4E5B78"/>
                </a:solidFill>
                <a:latin typeface="Courier New"/>
              </a:rPr>
              <a:t>I'm a </a:t>
            </a:r>
            <a:r>
              <a:rPr sz="1150" b="1" i="0">
                <a:solidFill>
                  <a:srgbClr val="D97706"/>
                </a:solidFill>
                <a:latin typeface="Courier New"/>
              </a:rPr>
              <a:t>[GRADE]</a:t>
            </a:r>
            <a:r>
              <a:rPr sz="1150" b="0" i="0">
                <a:solidFill>
                  <a:srgbClr val="4E5B78"/>
                </a:solidFill>
                <a:latin typeface="Courier New"/>
              </a:rPr>
              <a:t> student at </a:t>
            </a:r>
            <a:r>
              <a:rPr sz="1150" b="1" i="0">
                <a:solidFill>
                  <a:srgbClr val="D97706"/>
                </a:solidFill>
                <a:latin typeface="Courier New"/>
              </a:rPr>
              <a:t>[SCHOOL NAME]</a:t>
            </a:r>
            <a:r>
              <a:rPr sz="1150" b="0" i="0">
                <a:solidFill>
                  <a:srgbClr val="4E5B78"/>
                </a:solidFill>
                <a:latin typeface="Courier New"/>
              </a:rPr>
              <a:t>.</a:t>
            </a:r>
          </a:p>
        </p:txBody>
      </p:sp>
      <p:sp>
        <p:nvSpPr>
          <p:cNvPr id="11" name="TextBox 10"/>
          <p:cNvSpPr txBox="1"/>
          <p:nvPr/>
        </p:nvSpPr>
        <p:spPr>
          <a:xfrm>
            <a:off x="822960" y="2392172"/>
            <a:ext cx="10607040" cy="203200"/>
          </a:xfrm>
          <a:prstGeom prst="rect">
            <a:avLst/>
          </a:prstGeom>
          <a:noFill/>
        </p:spPr>
        <p:txBody>
          <a:bodyPr wrap="none">
            <a:spAutoFit/>
          </a:bodyPr>
          <a:lstStyle/>
          <a:p/>
          <a:p>
            <a:r>
              <a:rPr sz="1150" b="0" i="0">
                <a:solidFill>
                  <a:srgbClr val="4E5B78"/>
                </a:solidFill>
                <a:latin typeface="Courier New"/>
              </a:rPr>
              <a:t>Outside of school I </a:t>
            </a:r>
            <a:r>
              <a:rPr sz="1150" b="1" i="0">
                <a:solidFill>
                  <a:srgbClr val="D97706"/>
                </a:solidFill>
                <a:latin typeface="Courier New"/>
              </a:rPr>
              <a:t>[one activity -- job, sport, hobby, or club]</a:t>
            </a:r>
            <a:r>
              <a:rPr sz="1150" b="0" i="0">
                <a:solidFill>
                  <a:srgbClr val="4E5B78"/>
                </a:solidFill>
                <a:latin typeface="Courier New"/>
              </a:rPr>
              <a:t>.</a:t>
            </a:r>
          </a:p>
        </p:txBody>
      </p:sp>
      <p:sp>
        <p:nvSpPr>
          <p:cNvPr id="12" name="TextBox 11"/>
          <p:cNvSpPr txBox="1"/>
          <p:nvPr/>
        </p:nvSpPr>
        <p:spPr>
          <a:xfrm>
            <a:off x="822960" y="2608072"/>
            <a:ext cx="10607040" cy="203200"/>
          </a:xfrm>
          <a:prstGeom prst="rect">
            <a:avLst/>
          </a:prstGeom>
          <a:noFill/>
        </p:spPr>
        <p:txBody>
          <a:bodyPr wrap="none">
            <a:spAutoFit/>
          </a:bodyPr>
          <a:lstStyle/>
          <a:p/>
          <a:p>
            <a:r>
              <a:rPr sz="1150" b="0" i="0">
                <a:solidFill>
                  <a:srgbClr val="4E5B78"/>
                </a:solidFill>
                <a:latin typeface="Courier New"/>
              </a:rPr>
              <a:t>I'm curious about careers in </a:t>
            </a:r>
            <a:r>
              <a:rPr sz="1150" b="1" i="0">
                <a:solidFill>
                  <a:srgbClr val="D97706"/>
                </a:solidFill>
                <a:latin typeface="Courier New"/>
              </a:rPr>
              <a:t>[CAREER FIELD]</a:t>
            </a:r>
            <a:r>
              <a:rPr sz="1150" b="0" i="0">
                <a:solidFill>
                  <a:srgbClr val="4E5B78"/>
                </a:solidFill>
                <a:latin typeface="Courier New"/>
              </a:rPr>
              <a:t>.</a:t>
            </a:r>
          </a:p>
        </p:txBody>
      </p:sp>
      <p:sp>
        <p:nvSpPr>
          <p:cNvPr id="13" name="TextBox 12"/>
          <p:cNvSpPr txBox="1"/>
          <p:nvPr/>
        </p:nvSpPr>
        <p:spPr>
          <a:xfrm>
            <a:off x="822960" y="2887472"/>
            <a:ext cx="10607040" cy="203200"/>
          </a:xfrm>
          <a:prstGeom prst="rect">
            <a:avLst/>
          </a:prstGeom>
          <a:noFill/>
        </p:spPr>
        <p:txBody>
          <a:bodyPr wrap="none">
            <a:spAutoFit/>
          </a:bodyPr>
          <a:lstStyle/>
          <a:p/>
          <a:p>
            <a:r>
              <a:rPr sz="1150" b="0" i="0">
                <a:solidFill>
                  <a:srgbClr val="4E5B78"/>
                </a:solidFill>
                <a:latin typeface="Courier New"/>
              </a:rPr>
              <a:t>Write me a complete, self-contained HTML portfolio with: header, bio, skills tags, career+AI section</a:t>
            </a:r>
          </a:p>
        </p:txBody>
      </p:sp>
      <p:sp>
        <p:nvSpPr>
          <p:cNvPr id="14" name="TextBox 13"/>
          <p:cNvSpPr txBox="1"/>
          <p:nvPr/>
        </p:nvSpPr>
        <p:spPr>
          <a:xfrm>
            <a:off x="822960" y="3166872"/>
            <a:ext cx="10607040" cy="203200"/>
          </a:xfrm>
          <a:prstGeom prst="rect">
            <a:avLst/>
          </a:prstGeom>
          <a:noFill/>
        </p:spPr>
        <p:txBody>
          <a:bodyPr wrap="none">
            <a:spAutoFit/>
          </a:bodyPr>
          <a:lstStyle/>
          <a:p/>
          <a:p>
            <a:r>
              <a:rPr sz="1150" b="0" i="1">
                <a:solidFill>
                  <a:srgbClr val="6B7490"/>
                </a:solidFill>
                <a:latin typeface="Courier New"/>
              </a:rPr>
              <a:t>// Rules: All CSS in &lt;style&gt; tag. Dark background. Modern. Return ONLY the HTML code.</a:t>
            </a:r>
          </a:p>
        </p:txBody>
      </p:sp>
      <p:sp>
        <p:nvSpPr>
          <p:cNvPr id="15" name="Rectangle 14"/>
          <p:cNvSpPr/>
          <p:nvPr/>
        </p:nvSpPr>
        <p:spPr>
          <a:xfrm>
            <a:off x="640080" y="5029200"/>
            <a:ext cx="3520440" cy="731520"/>
          </a:xfrm>
          <a:prstGeom prst="rect">
            <a:avLst/>
          </a:prstGeom>
          <a:solidFill>
            <a:srgbClr val="FFFFFF"/>
          </a:solidFill>
          <a:ln w="9525">
            <a:solidFill>
              <a:srgbClr val="C4D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7080" y="5130800"/>
            <a:ext cx="279400" cy="304800"/>
          </a:xfrm>
          <a:prstGeom prst="rect">
            <a:avLst/>
          </a:prstGeom>
          <a:noFill/>
        </p:spPr>
        <p:txBody>
          <a:bodyPr wrap="none">
            <a:spAutoFit/>
          </a:bodyPr>
          <a:lstStyle/>
          <a:p/>
          <a:p>
            <a:pPr algn="l"/>
            <a:r>
              <a:rPr sz="1800" b="0" i="0">
                <a:solidFill>
                  <a:srgbClr val="D97706"/>
                </a:solidFill>
                <a:latin typeface="Georgia"/>
              </a:rPr>
              <a:t>1</a:t>
            </a:r>
          </a:p>
        </p:txBody>
      </p:sp>
      <p:sp>
        <p:nvSpPr>
          <p:cNvPr id="17" name="TextBox 16"/>
          <p:cNvSpPr txBox="1"/>
          <p:nvPr/>
        </p:nvSpPr>
        <p:spPr>
          <a:xfrm>
            <a:off x="1071880" y="5118100"/>
            <a:ext cx="2961640" cy="254000"/>
          </a:xfrm>
          <a:prstGeom prst="rect">
            <a:avLst/>
          </a:prstGeom>
          <a:noFill/>
        </p:spPr>
        <p:txBody>
          <a:bodyPr wrap="none">
            <a:spAutoFit/>
          </a:bodyPr>
          <a:lstStyle/>
          <a:p/>
          <a:p>
            <a:pPr algn="l"/>
            <a:r>
              <a:rPr sz="1100" b="1" i="0">
                <a:solidFill>
                  <a:srgbClr val="0A0E20"/>
                </a:solidFill>
                <a:latin typeface="Calibri"/>
              </a:rPr>
              <a:t>Open gemini.google.com</a:t>
            </a:r>
          </a:p>
        </p:txBody>
      </p:sp>
      <p:sp>
        <p:nvSpPr>
          <p:cNvPr id="18" name="TextBox 17"/>
          <p:cNvSpPr txBox="1"/>
          <p:nvPr/>
        </p:nvSpPr>
        <p:spPr>
          <a:xfrm>
            <a:off x="1071880" y="5359400"/>
            <a:ext cx="2961640" cy="254000"/>
          </a:xfrm>
          <a:prstGeom prst="rect">
            <a:avLst/>
          </a:prstGeom>
          <a:noFill/>
        </p:spPr>
        <p:txBody>
          <a:bodyPr wrap="none">
            <a:spAutoFit/>
          </a:bodyPr>
          <a:lstStyle/>
          <a:p/>
          <a:p>
            <a:pPr algn="l"/>
            <a:r>
              <a:rPr sz="1000" b="0" i="0">
                <a:solidFill>
                  <a:srgbClr val="4E5B78"/>
                </a:solidFill>
                <a:latin typeface="Calibri"/>
              </a:rPr>
              <a:t>Sign in with any Google account</a:t>
            </a:r>
          </a:p>
        </p:txBody>
      </p:sp>
      <p:sp>
        <p:nvSpPr>
          <p:cNvPr id="19" name="Rectangle 18"/>
          <p:cNvSpPr/>
          <p:nvPr/>
        </p:nvSpPr>
        <p:spPr>
          <a:xfrm>
            <a:off x="4270248" y="5029200"/>
            <a:ext cx="3520440" cy="731520"/>
          </a:xfrm>
          <a:prstGeom prst="rect">
            <a:avLst/>
          </a:prstGeom>
          <a:solidFill>
            <a:srgbClr val="FFFFFF"/>
          </a:solidFill>
          <a:ln w="9525">
            <a:solidFill>
              <a:srgbClr val="C4D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97248" y="5130800"/>
            <a:ext cx="279400" cy="304800"/>
          </a:xfrm>
          <a:prstGeom prst="rect">
            <a:avLst/>
          </a:prstGeom>
          <a:noFill/>
        </p:spPr>
        <p:txBody>
          <a:bodyPr wrap="none">
            <a:spAutoFit/>
          </a:bodyPr>
          <a:lstStyle/>
          <a:p/>
          <a:p>
            <a:pPr algn="l"/>
            <a:r>
              <a:rPr sz="1800" b="0" i="0">
                <a:solidFill>
                  <a:srgbClr val="D97706"/>
                </a:solidFill>
                <a:latin typeface="Georgia"/>
              </a:rPr>
              <a:t>2</a:t>
            </a:r>
          </a:p>
        </p:txBody>
      </p:sp>
      <p:sp>
        <p:nvSpPr>
          <p:cNvPr id="21" name="TextBox 20"/>
          <p:cNvSpPr txBox="1"/>
          <p:nvPr/>
        </p:nvSpPr>
        <p:spPr>
          <a:xfrm>
            <a:off x="4702048" y="5118100"/>
            <a:ext cx="2961640" cy="254000"/>
          </a:xfrm>
          <a:prstGeom prst="rect">
            <a:avLst/>
          </a:prstGeom>
          <a:noFill/>
        </p:spPr>
        <p:txBody>
          <a:bodyPr wrap="none">
            <a:spAutoFit/>
          </a:bodyPr>
          <a:lstStyle/>
          <a:p/>
          <a:p>
            <a:pPr algn="l"/>
            <a:r>
              <a:rPr sz="1100" b="1" i="0">
                <a:solidFill>
                  <a:srgbClr val="0A0E20"/>
                </a:solidFill>
                <a:latin typeface="Calibri"/>
              </a:rPr>
              <a:t>Paste &amp; fill orange parts</a:t>
            </a:r>
          </a:p>
        </p:txBody>
      </p:sp>
      <p:sp>
        <p:nvSpPr>
          <p:cNvPr id="22" name="TextBox 21"/>
          <p:cNvSpPr txBox="1"/>
          <p:nvPr/>
        </p:nvSpPr>
        <p:spPr>
          <a:xfrm>
            <a:off x="4702048" y="5359400"/>
            <a:ext cx="2961640" cy="254000"/>
          </a:xfrm>
          <a:prstGeom prst="rect">
            <a:avLst/>
          </a:prstGeom>
          <a:noFill/>
        </p:spPr>
        <p:txBody>
          <a:bodyPr wrap="none">
            <a:spAutoFit/>
          </a:bodyPr>
          <a:lstStyle/>
          <a:p/>
          <a:p>
            <a:pPr algn="l"/>
            <a:r>
              <a:rPr sz="1000" b="0" i="0">
                <a:solidFill>
                  <a:srgbClr val="4E5B78"/>
                </a:solidFill>
                <a:latin typeface="Calibri"/>
              </a:rPr>
              <a:t>Replace each bracket with YOUR real info</a:t>
            </a:r>
          </a:p>
        </p:txBody>
      </p:sp>
      <p:sp>
        <p:nvSpPr>
          <p:cNvPr id="23" name="Rectangle 22"/>
          <p:cNvSpPr/>
          <p:nvPr/>
        </p:nvSpPr>
        <p:spPr>
          <a:xfrm>
            <a:off x="7900416" y="5029200"/>
            <a:ext cx="3520440" cy="731520"/>
          </a:xfrm>
          <a:prstGeom prst="rect">
            <a:avLst/>
          </a:prstGeom>
          <a:solidFill>
            <a:srgbClr val="FFFFFF"/>
          </a:solidFill>
          <a:ln w="9525">
            <a:solidFill>
              <a:srgbClr val="C4D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27416" y="5130800"/>
            <a:ext cx="279400" cy="304800"/>
          </a:xfrm>
          <a:prstGeom prst="rect">
            <a:avLst/>
          </a:prstGeom>
          <a:noFill/>
        </p:spPr>
        <p:txBody>
          <a:bodyPr wrap="none">
            <a:spAutoFit/>
          </a:bodyPr>
          <a:lstStyle/>
          <a:p/>
          <a:p>
            <a:pPr algn="l"/>
            <a:r>
              <a:rPr sz="1800" b="0" i="0">
                <a:solidFill>
                  <a:srgbClr val="D97706"/>
                </a:solidFill>
                <a:latin typeface="Georgia"/>
              </a:rPr>
              <a:t>3</a:t>
            </a:r>
          </a:p>
        </p:txBody>
      </p:sp>
      <p:sp>
        <p:nvSpPr>
          <p:cNvPr id="25" name="TextBox 24"/>
          <p:cNvSpPr txBox="1"/>
          <p:nvPr/>
        </p:nvSpPr>
        <p:spPr>
          <a:xfrm>
            <a:off x="8332216" y="5118100"/>
            <a:ext cx="2961640" cy="254000"/>
          </a:xfrm>
          <a:prstGeom prst="rect">
            <a:avLst/>
          </a:prstGeom>
          <a:noFill/>
        </p:spPr>
        <p:txBody>
          <a:bodyPr wrap="none">
            <a:spAutoFit/>
          </a:bodyPr>
          <a:lstStyle/>
          <a:p/>
          <a:p>
            <a:pPr algn="l"/>
            <a:r>
              <a:rPr sz="1100" b="1" i="0">
                <a:solidFill>
                  <a:srgbClr val="0A0E20"/>
                </a:solidFill>
                <a:latin typeface="Calibri"/>
              </a:rPr>
              <a:t>Copy ALL the HTML output</a:t>
            </a:r>
          </a:p>
        </p:txBody>
      </p:sp>
      <p:sp>
        <p:nvSpPr>
          <p:cNvPr id="26" name="TextBox 25"/>
          <p:cNvSpPr txBox="1"/>
          <p:nvPr/>
        </p:nvSpPr>
        <p:spPr>
          <a:xfrm>
            <a:off x="8332216" y="5359400"/>
            <a:ext cx="2961640" cy="254000"/>
          </a:xfrm>
          <a:prstGeom prst="rect">
            <a:avLst/>
          </a:prstGeom>
          <a:noFill/>
        </p:spPr>
        <p:txBody>
          <a:bodyPr wrap="none">
            <a:spAutoFit/>
          </a:bodyPr>
          <a:lstStyle/>
          <a:p/>
          <a:p>
            <a:pPr algn="l"/>
            <a:r>
              <a:rPr sz="1000" b="0" i="0">
                <a:solidFill>
                  <a:srgbClr val="4E5B78"/>
                </a:solidFill>
                <a:latin typeface="Calibri"/>
              </a:rPr>
              <a:t>Ctrl+A then Ctrl+C -- save for tonight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DF1FB"/>
        </a:solidFill>
        <a:effectLst/>
      </p:bgPr>
    </p:bg>
    <p:spTree>
      <p:nvGrpSpPr>
        <p:cNvPr id="1" name=""/>
        <p:cNvGrpSpPr/>
        <p:nvPr/>
      </p:nvGrpSpPr>
      <p:grpSpPr/>
      <p:sp>
        <p:nvSpPr>
          <p:cNvPr id="2" name="Rectangle 1"/>
          <p:cNvSpPr/>
          <p:nvPr/>
        </p:nvSpPr>
        <p:spPr>
          <a:xfrm>
            <a:off x="0" y="0"/>
            <a:ext cx="6094476" cy="50800"/>
          </a:xfrm>
          <a:prstGeom prst="rect">
            <a:avLst/>
          </a:prstGeom>
          <a:solidFill>
            <a:srgbClr val="0055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4476" y="0"/>
            <a:ext cx="6094476" cy="5080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10972800" cy="228600"/>
          </a:xfrm>
          <a:prstGeom prst="rect">
            <a:avLst/>
          </a:prstGeom>
          <a:noFill/>
        </p:spPr>
        <p:txBody>
          <a:bodyPr wrap="none">
            <a:spAutoFit/>
          </a:bodyPr>
          <a:lstStyle/>
          <a:p/>
          <a:p>
            <a:pPr algn="l"/>
            <a:r>
              <a:rPr sz="900" b="1" i="0">
                <a:solidFill>
                  <a:srgbClr val="0055CC"/>
                </a:solidFill>
                <a:latin typeface="Calibri"/>
              </a:rPr>
              <a:t>FACILITATOR DEMO -- WATCH THE FULL FLOW</a:t>
            </a:r>
          </a:p>
        </p:txBody>
      </p:sp>
      <p:sp>
        <p:nvSpPr>
          <p:cNvPr id="5" name="TextBox 4"/>
          <p:cNvSpPr txBox="1"/>
          <p:nvPr/>
        </p:nvSpPr>
        <p:spPr>
          <a:xfrm>
            <a:off x="640080" y="777240"/>
            <a:ext cx="9144000" cy="1828800"/>
          </a:xfrm>
          <a:prstGeom prst="rect">
            <a:avLst/>
          </a:prstGeom>
          <a:noFill/>
        </p:spPr>
        <p:txBody>
          <a:bodyPr wrap="square">
            <a:spAutoFit/>
          </a:bodyPr>
          <a:lstStyle/>
          <a:p/>
          <a:p>
            <a:pPr algn="l"/>
            <a:r>
              <a:rPr sz="4400" b="0" i="0">
                <a:solidFill>
                  <a:srgbClr val="0A0E20"/>
                </a:solidFill>
                <a:latin typeface="Georgia"/>
              </a:rPr>
              <a:t>Watch Once,
Do It Yourself</a:t>
            </a:r>
          </a:p>
        </p:txBody>
      </p:sp>
      <p:sp>
        <p:nvSpPr>
          <p:cNvPr id="6" name="Rectangle 5"/>
          <p:cNvSpPr/>
          <p:nvPr/>
        </p:nvSpPr>
        <p:spPr>
          <a:xfrm>
            <a:off x="640080" y="2286000"/>
            <a:ext cx="658368" cy="3810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423160"/>
            <a:ext cx="10972800" cy="503428"/>
          </a:xfrm>
          <a:prstGeom prst="rect">
            <a:avLst/>
          </a:prstGeom>
          <a:solidFill>
            <a:srgbClr val="FFFFFF"/>
          </a:solidFill>
          <a:ln w="9525">
            <a:solidFill>
              <a:srgbClr val="C4D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24760"/>
            <a:ext cx="279400" cy="279400"/>
          </a:xfrm>
          <a:prstGeom prst="rect">
            <a:avLst/>
          </a:prstGeom>
          <a:noFill/>
        </p:spPr>
        <p:txBody>
          <a:bodyPr wrap="none">
            <a:spAutoFit/>
          </a:bodyPr>
          <a:lstStyle/>
          <a:p/>
          <a:p>
            <a:pPr algn="l"/>
            <a:r>
              <a:rPr sz="1400" b="1" i="0">
                <a:solidFill>
                  <a:srgbClr val="D97706"/>
                </a:solidFill>
                <a:latin typeface="Calibri"/>
              </a:rPr>
              <a:t>-&gt;</a:t>
            </a:r>
          </a:p>
        </p:txBody>
      </p:sp>
      <p:sp>
        <p:nvSpPr>
          <p:cNvPr id="9" name="TextBox 8"/>
          <p:cNvSpPr txBox="1"/>
          <p:nvPr/>
        </p:nvSpPr>
        <p:spPr>
          <a:xfrm>
            <a:off x="1051560" y="2537460"/>
            <a:ext cx="10424160" cy="279400"/>
          </a:xfrm>
          <a:prstGeom prst="rect">
            <a:avLst/>
          </a:prstGeom>
          <a:noFill/>
        </p:spPr>
        <p:txBody>
          <a:bodyPr wrap="none">
            <a:spAutoFit/>
          </a:bodyPr>
          <a:lstStyle/>
          <a:p/>
          <a:p>
            <a:pPr algn="l"/>
            <a:r>
              <a:rPr sz="1300" b="0" i="0">
                <a:solidFill>
                  <a:srgbClr val="1C2240"/>
                </a:solidFill>
                <a:latin typeface="Calibri"/>
              </a:rPr>
              <a:t>Open gemini.google.com</a:t>
            </a:r>
          </a:p>
        </p:txBody>
      </p:sp>
      <p:sp>
        <p:nvSpPr>
          <p:cNvPr id="10" name="Rectangle 9"/>
          <p:cNvSpPr/>
          <p:nvPr/>
        </p:nvSpPr>
        <p:spPr>
          <a:xfrm>
            <a:off x="640080" y="2990088"/>
            <a:ext cx="10972800" cy="503428"/>
          </a:xfrm>
          <a:prstGeom prst="rect">
            <a:avLst/>
          </a:prstGeom>
          <a:solidFill>
            <a:srgbClr val="FFFFFF"/>
          </a:solidFill>
          <a:ln w="9525">
            <a:solidFill>
              <a:srgbClr val="C4D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3091688"/>
            <a:ext cx="279400" cy="279400"/>
          </a:xfrm>
          <a:prstGeom prst="rect">
            <a:avLst/>
          </a:prstGeom>
          <a:noFill/>
        </p:spPr>
        <p:txBody>
          <a:bodyPr wrap="none">
            <a:spAutoFit/>
          </a:bodyPr>
          <a:lstStyle/>
          <a:p/>
          <a:p>
            <a:pPr algn="l"/>
            <a:r>
              <a:rPr sz="1400" b="1" i="0">
                <a:solidFill>
                  <a:srgbClr val="D97706"/>
                </a:solidFill>
                <a:latin typeface="Calibri"/>
              </a:rPr>
              <a:t>-&gt;</a:t>
            </a:r>
          </a:p>
        </p:txBody>
      </p:sp>
      <p:sp>
        <p:nvSpPr>
          <p:cNvPr id="12" name="TextBox 11"/>
          <p:cNvSpPr txBox="1"/>
          <p:nvPr/>
        </p:nvSpPr>
        <p:spPr>
          <a:xfrm>
            <a:off x="1051560" y="3104388"/>
            <a:ext cx="10424160" cy="279400"/>
          </a:xfrm>
          <a:prstGeom prst="rect">
            <a:avLst/>
          </a:prstGeom>
          <a:noFill/>
        </p:spPr>
        <p:txBody>
          <a:bodyPr wrap="none">
            <a:spAutoFit/>
          </a:bodyPr>
          <a:lstStyle/>
          <a:p/>
          <a:p>
            <a:pPr algn="l"/>
            <a:r>
              <a:rPr sz="1300" b="0" i="0">
                <a:solidFill>
                  <a:srgbClr val="1C2240"/>
                </a:solidFill>
                <a:latin typeface="Calibri"/>
              </a:rPr>
              <a:t>Paste the prompt -- fill in grade, school, activity, career</a:t>
            </a:r>
          </a:p>
        </p:txBody>
      </p:sp>
      <p:sp>
        <p:nvSpPr>
          <p:cNvPr id="13" name="Rectangle 12"/>
          <p:cNvSpPr/>
          <p:nvPr/>
        </p:nvSpPr>
        <p:spPr>
          <a:xfrm>
            <a:off x="640080" y="3557016"/>
            <a:ext cx="10972800" cy="503428"/>
          </a:xfrm>
          <a:prstGeom prst="rect">
            <a:avLst/>
          </a:prstGeom>
          <a:solidFill>
            <a:srgbClr val="FFFFFF"/>
          </a:solidFill>
          <a:ln w="9525">
            <a:solidFill>
              <a:srgbClr val="C4D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3658616"/>
            <a:ext cx="279400" cy="279400"/>
          </a:xfrm>
          <a:prstGeom prst="rect">
            <a:avLst/>
          </a:prstGeom>
          <a:noFill/>
        </p:spPr>
        <p:txBody>
          <a:bodyPr wrap="none">
            <a:spAutoFit/>
          </a:bodyPr>
          <a:lstStyle/>
          <a:p/>
          <a:p>
            <a:pPr algn="l"/>
            <a:r>
              <a:rPr sz="1400" b="1" i="0">
                <a:solidFill>
                  <a:srgbClr val="D97706"/>
                </a:solidFill>
                <a:latin typeface="Calibri"/>
              </a:rPr>
              <a:t>-&gt;</a:t>
            </a:r>
          </a:p>
        </p:txBody>
      </p:sp>
      <p:sp>
        <p:nvSpPr>
          <p:cNvPr id="15" name="TextBox 14"/>
          <p:cNvSpPr txBox="1"/>
          <p:nvPr/>
        </p:nvSpPr>
        <p:spPr>
          <a:xfrm>
            <a:off x="1051560" y="3671316"/>
            <a:ext cx="10424160" cy="279400"/>
          </a:xfrm>
          <a:prstGeom prst="rect">
            <a:avLst/>
          </a:prstGeom>
          <a:noFill/>
        </p:spPr>
        <p:txBody>
          <a:bodyPr wrap="none">
            <a:spAutoFit/>
          </a:bodyPr>
          <a:lstStyle/>
          <a:p/>
          <a:p>
            <a:pPr algn="l"/>
            <a:r>
              <a:rPr sz="1300" b="0" i="0">
                <a:solidFill>
                  <a:srgbClr val="1C2240"/>
                </a:solidFill>
                <a:latin typeface="Calibri"/>
              </a:rPr>
              <a:t>Show the HTML output -- scroll so students see what code looks like</a:t>
            </a:r>
          </a:p>
        </p:txBody>
      </p:sp>
      <p:sp>
        <p:nvSpPr>
          <p:cNvPr id="16" name="Rectangle 15"/>
          <p:cNvSpPr/>
          <p:nvPr/>
        </p:nvSpPr>
        <p:spPr>
          <a:xfrm>
            <a:off x="640080" y="4123944"/>
            <a:ext cx="10972800" cy="503428"/>
          </a:xfrm>
          <a:prstGeom prst="rect">
            <a:avLst/>
          </a:prstGeom>
          <a:solidFill>
            <a:srgbClr val="FFFFFF"/>
          </a:solidFill>
          <a:ln w="9525">
            <a:solidFill>
              <a:srgbClr val="C4D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225544"/>
            <a:ext cx="279400" cy="279400"/>
          </a:xfrm>
          <a:prstGeom prst="rect">
            <a:avLst/>
          </a:prstGeom>
          <a:noFill/>
        </p:spPr>
        <p:txBody>
          <a:bodyPr wrap="none">
            <a:spAutoFit/>
          </a:bodyPr>
          <a:lstStyle/>
          <a:p/>
          <a:p>
            <a:pPr algn="l"/>
            <a:r>
              <a:rPr sz="1400" b="1" i="0">
                <a:solidFill>
                  <a:srgbClr val="D97706"/>
                </a:solidFill>
                <a:latin typeface="Calibri"/>
              </a:rPr>
              <a:t>-&gt;</a:t>
            </a:r>
          </a:p>
        </p:txBody>
      </p:sp>
      <p:sp>
        <p:nvSpPr>
          <p:cNvPr id="18" name="TextBox 17"/>
          <p:cNvSpPr txBox="1"/>
          <p:nvPr/>
        </p:nvSpPr>
        <p:spPr>
          <a:xfrm>
            <a:off x="1051560" y="4238244"/>
            <a:ext cx="10424160" cy="279400"/>
          </a:xfrm>
          <a:prstGeom prst="rect">
            <a:avLst/>
          </a:prstGeom>
          <a:noFill/>
        </p:spPr>
        <p:txBody>
          <a:bodyPr wrap="none">
            <a:spAutoFit/>
          </a:bodyPr>
          <a:lstStyle/>
          <a:p/>
          <a:p>
            <a:pPr algn="l"/>
            <a:r>
              <a:rPr sz="1300" b="0" i="0">
                <a:solidFill>
                  <a:srgbClr val="1C2240"/>
                </a:solidFill>
                <a:latin typeface="Calibri"/>
              </a:rPr>
              <a:t>Select all -&gt; Copy (this is what gets pasted into GitHub)</a:t>
            </a:r>
          </a:p>
        </p:txBody>
      </p:sp>
      <p:sp>
        <p:nvSpPr>
          <p:cNvPr id="19" name="Rectangle 18"/>
          <p:cNvSpPr/>
          <p:nvPr/>
        </p:nvSpPr>
        <p:spPr>
          <a:xfrm>
            <a:off x="640080" y="4690872"/>
            <a:ext cx="10972800" cy="503428"/>
          </a:xfrm>
          <a:prstGeom prst="rect">
            <a:avLst/>
          </a:prstGeom>
          <a:solidFill>
            <a:srgbClr val="E5ECFA"/>
          </a:solidFill>
          <a:ln w="9525">
            <a:solidFill>
              <a:srgbClr val="0055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792472"/>
            <a:ext cx="279400" cy="279400"/>
          </a:xfrm>
          <a:prstGeom prst="rect">
            <a:avLst/>
          </a:prstGeom>
          <a:noFill/>
        </p:spPr>
        <p:txBody>
          <a:bodyPr wrap="none">
            <a:spAutoFit/>
          </a:bodyPr>
          <a:lstStyle/>
          <a:p/>
          <a:p>
            <a:pPr algn="l"/>
            <a:r>
              <a:rPr sz="1400" b="1" i="0">
                <a:solidFill>
                  <a:srgbClr val="0055CC"/>
                </a:solidFill>
                <a:latin typeface="Calibri"/>
              </a:rPr>
              <a:t>-&gt;</a:t>
            </a:r>
          </a:p>
        </p:txBody>
      </p:sp>
      <p:sp>
        <p:nvSpPr>
          <p:cNvPr id="21" name="TextBox 20"/>
          <p:cNvSpPr txBox="1"/>
          <p:nvPr/>
        </p:nvSpPr>
        <p:spPr>
          <a:xfrm>
            <a:off x="1051560" y="4805172"/>
            <a:ext cx="10424160" cy="279400"/>
          </a:xfrm>
          <a:prstGeom prst="rect">
            <a:avLst/>
          </a:prstGeom>
          <a:noFill/>
        </p:spPr>
        <p:txBody>
          <a:bodyPr wrap="none">
            <a:spAutoFit/>
          </a:bodyPr>
          <a:lstStyle/>
          <a:p/>
          <a:p>
            <a:pPr algn="l"/>
            <a:r>
              <a:rPr sz="1300" b="1" i="0">
                <a:solidFill>
                  <a:srgbClr val="0A0E20"/>
                </a:solidFill>
                <a:latin typeface="Calibri"/>
              </a:rPr>
              <a:t>Go to github.com -&gt; New repo -&gt; Public -&gt; Add file -&gt; Create new file -&gt; index.html</a:t>
            </a:r>
          </a:p>
        </p:txBody>
      </p:sp>
      <p:sp>
        <p:nvSpPr>
          <p:cNvPr id="22" name="Rectangle 21"/>
          <p:cNvSpPr/>
          <p:nvPr/>
        </p:nvSpPr>
        <p:spPr>
          <a:xfrm>
            <a:off x="640080" y="5257800"/>
            <a:ext cx="10972800" cy="503428"/>
          </a:xfrm>
          <a:prstGeom prst="rect">
            <a:avLst/>
          </a:prstGeom>
          <a:solidFill>
            <a:srgbClr val="E5ECFA"/>
          </a:solidFill>
          <a:ln w="9525">
            <a:solidFill>
              <a:srgbClr val="0055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5359400"/>
            <a:ext cx="279400" cy="279400"/>
          </a:xfrm>
          <a:prstGeom prst="rect">
            <a:avLst/>
          </a:prstGeom>
          <a:noFill/>
        </p:spPr>
        <p:txBody>
          <a:bodyPr wrap="none">
            <a:spAutoFit/>
          </a:bodyPr>
          <a:lstStyle/>
          <a:p/>
          <a:p>
            <a:pPr algn="l"/>
            <a:r>
              <a:rPr sz="1400" b="1" i="0">
                <a:solidFill>
                  <a:srgbClr val="0055CC"/>
                </a:solidFill>
                <a:latin typeface="Calibri"/>
              </a:rPr>
              <a:t>-&gt;</a:t>
            </a:r>
          </a:p>
        </p:txBody>
      </p:sp>
      <p:sp>
        <p:nvSpPr>
          <p:cNvPr id="24" name="TextBox 23"/>
          <p:cNvSpPr txBox="1"/>
          <p:nvPr/>
        </p:nvSpPr>
        <p:spPr>
          <a:xfrm>
            <a:off x="1051560" y="5372100"/>
            <a:ext cx="10424160" cy="279400"/>
          </a:xfrm>
          <a:prstGeom prst="rect">
            <a:avLst/>
          </a:prstGeom>
          <a:noFill/>
        </p:spPr>
        <p:txBody>
          <a:bodyPr wrap="none">
            <a:spAutoFit/>
          </a:bodyPr>
          <a:lstStyle/>
          <a:p/>
          <a:p>
            <a:pPr algn="l"/>
            <a:r>
              <a:rPr sz="1300" b="1" i="0">
                <a:solidFill>
                  <a:srgbClr val="0A0E20"/>
                </a:solidFill>
                <a:latin typeface="Calibri"/>
              </a:rPr>
              <a:t>Paste HTML -&gt; Commit -&gt; Settings -&gt; Pages -&gt; Source: main -&gt; Save -&gt; Live in 60s</a:t>
            </a:r>
          </a:p>
        </p:txBody>
      </p:sp>
      <p:sp>
        <p:nvSpPr>
          <p:cNvPr id="25" name="Rectangle 24"/>
          <p:cNvSpPr/>
          <p:nvPr/>
        </p:nvSpPr>
        <p:spPr>
          <a:xfrm>
            <a:off x="640080" y="5875528"/>
            <a:ext cx="10972800" cy="355600"/>
          </a:xfrm>
          <a:prstGeom prst="rect">
            <a:avLst/>
          </a:prstGeom>
          <a:solidFill>
            <a:srgbClr val="E5ECFA"/>
          </a:solidFill>
          <a:ln w="9525">
            <a:solidFill>
              <a:srgbClr val="0055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5900928"/>
            <a:ext cx="10698480" cy="279400"/>
          </a:xfrm>
          <a:prstGeom prst="rect">
            <a:avLst/>
          </a:prstGeom>
          <a:noFill/>
        </p:spPr>
        <p:txBody>
          <a:bodyPr wrap="none">
            <a:spAutoFit/>
          </a:bodyPr>
          <a:lstStyle/>
          <a:p/>
          <a:p>
            <a:pPr algn="l"/>
            <a:r>
              <a:rPr sz="1100" b="1" i="0">
                <a:solidFill>
                  <a:srgbClr val="0055CC"/>
                </a:solidFill>
                <a:latin typeface="Calibri"/>
              </a:rPr>
              <a:t>No API tokens. No command line. Just github.com in a browser -- anyone can do this in 5 minutes.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DF1FB"/>
        </a:solidFill>
        <a:effectLst/>
      </p:bgPr>
    </p:bg>
    <p:spTree>
      <p:nvGrpSpPr>
        <p:cNvPr id="1" name=""/>
        <p:cNvGrpSpPr/>
        <p:nvPr/>
      </p:nvGrpSpPr>
      <p:grpSpPr/>
      <p:sp>
        <p:nvSpPr>
          <p:cNvPr id="2" name="Rectangle 1"/>
          <p:cNvSpPr/>
          <p:nvPr/>
        </p:nvSpPr>
        <p:spPr>
          <a:xfrm>
            <a:off x="0" y="0"/>
            <a:ext cx="6094476" cy="50800"/>
          </a:xfrm>
          <a:prstGeom prst="rect">
            <a:avLst/>
          </a:prstGeom>
          <a:solidFill>
            <a:srgbClr val="0055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4476" y="0"/>
            <a:ext cx="6094476" cy="5080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10972800" cy="228600"/>
          </a:xfrm>
          <a:prstGeom prst="rect">
            <a:avLst/>
          </a:prstGeom>
          <a:noFill/>
        </p:spPr>
        <p:txBody>
          <a:bodyPr wrap="none">
            <a:spAutoFit/>
          </a:bodyPr>
          <a:lstStyle/>
          <a:p/>
          <a:p>
            <a:pPr algn="l"/>
            <a:r>
              <a:rPr sz="900" b="1" i="0">
                <a:solidFill>
                  <a:srgbClr val="0055CC"/>
                </a:solidFill>
                <a:latin typeface="Calibri"/>
              </a:rPr>
              <a:t>HANDS-ON ACTIVITY</a:t>
            </a:r>
          </a:p>
        </p:txBody>
      </p:sp>
      <p:sp>
        <p:nvSpPr>
          <p:cNvPr id="5" name="TextBox 4"/>
          <p:cNvSpPr txBox="1"/>
          <p:nvPr/>
        </p:nvSpPr>
        <p:spPr>
          <a:xfrm>
            <a:off x="640080" y="777240"/>
            <a:ext cx="9144000" cy="1828800"/>
          </a:xfrm>
          <a:prstGeom prst="rect">
            <a:avLst/>
          </a:prstGeom>
          <a:noFill/>
        </p:spPr>
        <p:txBody>
          <a:bodyPr wrap="square">
            <a:spAutoFit/>
          </a:bodyPr>
          <a:lstStyle/>
          <a:p/>
          <a:p>
            <a:pPr algn="l"/>
            <a:r>
              <a:rPr sz="5200" b="0" i="0">
                <a:solidFill>
                  <a:srgbClr val="0A0E20"/>
                </a:solidFill>
                <a:latin typeface="Georgia"/>
              </a:rPr>
              <a:t>Your Turn</a:t>
            </a:r>
          </a:p>
        </p:txBody>
      </p:sp>
      <p:sp>
        <p:nvSpPr>
          <p:cNvPr id="6" name="Rectangle 5"/>
          <p:cNvSpPr/>
          <p:nvPr/>
        </p:nvSpPr>
        <p:spPr>
          <a:xfrm>
            <a:off x="640080" y="1920240"/>
            <a:ext cx="658368" cy="3810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057400"/>
            <a:ext cx="4572000" cy="1280160"/>
          </a:xfrm>
          <a:prstGeom prst="rect">
            <a:avLst/>
          </a:prstGeom>
          <a:noFill/>
        </p:spPr>
        <p:txBody>
          <a:bodyPr wrap="none">
            <a:spAutoFit/>
          </a:bodyPr>
          <a:lstStyle/>
          <a:p/>
          <a:p>
            <a:pPr algn="l"/>
            <a:r>
              <a:rPr sz="7200" b="0" i="0">
                <a:solidFill>
                  <a:srgbClr val="D97706"/>
                </a:solidFill>
                <a:latin typeface="Georgia"/>
              </a:rPr>
              <a:t>5 Minutes</a:t>
            </a:r>
          </a:p>
        </p:txBody>
      </p:sp>
      <p:sp>
        <p:nvSpPr>
          <p:cNvPr id="8" name="TextBox 7"/>
          <p:cNvSpPr txBox="1"/>
          <p:nvPr/>
        </p:nvSpPr>
        <p:spPr>
          <a:xfrm>
            <a:off x="640080" y="3246120"/>
            <a:ext cx="4572000" cy="228600"/>
          </a:xfrm>
          <a:prstGeom prst="rect">
            <a:avLst/>
          </a:prstGeom>
          <a:noFill/>
        </p:spPr>
        <p:txBody>
          <a:bodyPr wrap="none">
            <a:spAutoFit/>
          </a:bodyPr>
          <a:lstStyle/>
          <a:p/>
          <a:p>
            <a:pPr algn="l"/>
            <a:r>
              <a:rPr sz="1000" b="1" i="0">
                <a:solidFill>
                  <a:srgbClr val="4E5B78"/>
                </a:solidFill>
                <a:latin typeface="Calibri"/>
              </a:rPr>
              <a:t>YOU'VE GOT THIS</a:t>
            </a:r>
          </a:p>
        </p:txBody>
      </p:sp>
      <p:sp>
        <p:nvSpPr>
          <p:cNvPr id="9" name="Rectangle 8"/>
          <p:cNvSpPr/>
          <p:nvPr/>
        </p:nvSpPr>
        <p:spPr>
          <a:xfrm>
            <a:off x="640080" y="3520440"/>
            <a:ext cx="5120640" cy="1188720"/>
          </a:xfrm>
          <a:prstGeom prst="rect">
            <a:avLst/>
          </a:prstGeom>
          <a:solidFill>
            <a:srgbClr val="FFFFFF"/>
          </a:solidFill>
          <a:ln w="9525">
            <a:solidFill>
              <a:srgbClr val="C4D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7080" y="3622040"/>
            <a:ext cx="381000" cy="431800"/>
          </a:xfrm>
          <a:prstGeom prst="rect">
            <a:avLst/>
          </a:prstGeom>
          <a:noFill/>
        </p:spPr>
        <p:txBody>
          <a:bodyPr wrap="none">
            <a:spAutoFit/>
          </a:bodyPr>
          <a:lstStyle/>
          <a:p/>
          <a:p>
            <a:pPr algn="l"/>
            <a:r>
              <a:rPr sz="2800" b="0" i="0">
                <a:solidFill>
                  <a:srgbClr val="D97706"/>
                </a:solidFill>
                <a:latin typeface="Georgia"/>
              </a:rPr>
              <a:t>1</a:t>
            </a:r>
          </a:p>
        </p:txBody>
      </p:sp>
      <p:sp>
        <p:nvSpPr>
          <p:cNvPr id="11" name="TextBox 10"/>
          <p:cNvSpPr txBox="1"/>
          <p:nvPr/>
        </p:nvSpPr>
        <p:spPr>
          <a:xfrm>
            <a:off x="1198880" y="3622040"/>
            <a:ext cx="4434840" cy="254000"/>
          </a:xfrm>
          <a:prstGeom prst="rect">
            <a:avLst/>
          </a:prstGeom>
          <a:noFill/>
        </p:spPr>
        <p:txBody>
          <a:bodyPr wrap="none">
            <a:spAutoFit/>
          </a:bodyPr>
          <a:lstStyle/>
          <a:p/>
          <a:p>
            <a:pPr algn="l"/>
            <a:r>
              <a:rPr sz="1300" b="1" i="0">
                <a:solidFill>
                  <a:srgbClr val="0A0E20"/>
                </a:solidFill>
                <a:latin typeface="Calibri"/>
              </a:rPr>
              <a:t>Open Gemini</a:t>
            </a:r>
          </a:p>
        </p:txBody>
      </p:sp>
      <p:sp>
        <p:nvSpPr>
          <p:cNvPr id="12" name="TextBox 11"/>
          <p:cNvSpPr txBox="1"/>
          <p:nvPr/>
        </p:nvSpPr>
        <p:spPr>
          <a:xfrm>
            <a:off x="1198880" y="3901440"/>
            <a:ext cx="4434840" cy="406400"/>
          </a:xfrm>
          <a:prstGeom prst="rect">
            <a:avLst/>
          </a:prstGeom>
          <a:noFill/>
        </p:spPr>
        <p:txBody>
          <a:bodyPr wrap="square">
            <a:spAutoFit/>
          </a:bodyPr>
          <a:lstStyle/>
          <a:p/>
          <a:p>
            <a:pPr algn="l"/>
            <a:r>
              <a:rPr sz="1100" b="0" i="0">
                <a:solidFill>
                  <a:srgbClr val="4E5B78"/>
                </a:solidFill>
                <a:latin typeface="Calibri"/>
              </a:rPr>
              <a:t>gemini.google.com on your phone or laptop</a:t>
            </a:r>
          </a:p>
        </p:txBody>
      </p:sp>
      <p:sp>
        <p:nvSpPr>
          <p:cNvPr id="13" name="Rectangle 12"/>
          <p:cNvSpPr/>
          <p:nvPr/>
        </p:nvSpPr>
        <p:spPr>
          <a:xfrm>
            <a:off x="5888736" y="3520440"/>
            <a:ext cx="5120640" cy="1188720"/>
          </a:xfrm>
          <a:prstGeom prst="rect">
            <a:avLst/>
          </a:prstGeom>
          <a:solidFill>
            <a:srgbClr val="FFFFFF"/>
          </a:solidFill>
          <a:ln w="9525">
            <a:solidFill>
              <a:srgbClr val="C4D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15736" y="3622040"/>
            <a:ext cx="381000" cy="431800"/>
          </a:xfrm>
          <a:prstGeom prst="rect">
            <a:avLst/>
          </a:prstGeom>
          <a:noFill/>
        </p:spPr>
        <p:txBody>
          <a:bodyPr wrap="none">
            <a:spAutoFit/>
          </a:bodyPr>
          <a:lstStyle/>
          <a:p/>
          <a:p>
            <a:pPr algn="l"/>
            <a:r>
              <a:rPr sz="2800" b="0" i="0">
                <a:solidFill>
                  <a:srgbClr val="D97706"/>
                </a:solidFill>
                <a:latin typeface="Georgia"/>
              </a:rPr>
              <a:t>2</a:t>
            </a:r>
          </a:p>
        </p:txBody>
      </p:sp>
      <p:sp>
        <p:nvSpPr>
          <p:cNvPr id="15" name="TextBox 14"/>
          <p:cNvSpPr txBox="1"/>
          <p:nvPr/>
        </p:nvSpPr>
        <p:spPr>
          <a:xfrm>
            <a:off x="6447536" y="3622040"/>
            <a:ext cx="4434840" cy="254000"/>
          </a:xfrm>
          <a:prstGeom prst="rect">
            <a:avLst/>
          </a:prstGeom>
          <a:noFill/>
        </p:spPr>
        <p:txBody>
          <a:bodyPr wrap="none">
            <a:spAutoFit/>
          </a:bodyPr>
          <a:lstStyle/>
          <a:p/>
          <a:p>
            <a:pPr algn="l"/>
            <a:r>
              <a:rPr sz="1300" b="1" i="0">
                <a:solidFill>
                  <a:srgbClr val="0A0E20"/>
                </a:solidFill>
                <a:latin typeface="Calibri"/>
              </a:rPr>
              <a:t>Go to the prompt</a:t>
            </a:r>
          </a:p>
        </p:txBody>
      </p:sp>
      <p:sp>
        <p:nvSpPr>
          <p:cNvPr id="16" name="TextBox 15"/>
          <p:cNvSpPr txBox="1"/>
          <p:nvPr/>
        </p:nvSpPr>
        <p:spPr>
          <a:xfrm>
            <a:off x="6447536" y="3901440"/>
            <a:ext cx="4434840" cy="406400"/>
          </a:xfrm>
          <a:prstGeom prst="rect">
            <a:avLst/>
          </a:prstGeom>
          <a:noFill/>
        </p:spPr>
        <p:txBody>
          <a:bodyPr wrap="square">
            <a:spAutoFit/>
          </a:bodyPr>
          <a:lstStyle/>
          <a:p/>
          <a:p>
            <a:pPr algn="l"/>
            <a:r>
              <a:rPr sz="1100" b="0" i="0">
                <a:solidFill>
                  <a:srgbClr val="4E5B78"/>
                </a:solidFill>
                <a:latin typeface="Calibri"/>
              </a:rPr>
              <a:t>Slide 8 -- read it once before you start</a:t>
            </a:r>
          </a:p>
        </p:txBody>
      </p:sp>
      <p:sp>
        <p:nvSpPr>
          <p:cNvPr id="17" name="Rectangle 16"/>
          <p:cNvSpPr/>
          <p:nvPr/>
        </p:nvSpPr>
        <p:spPr>
          <a:xfrm>
            <a:off x="640080" y="4846320"/>
            <a:ext cx="5120640" cy="1188720"/>
          </a:xfrm>
          <a:prstGeom prst="rect">
            <a:avLst/>
          </a:prstGeom>
          <a:solidFill>
            <a:srgbClr val="FFFFFF"/>
          </a:solidFill>
          <a:ln w="9525">
            <a:solidFill>
              <a:srgbClr val="C4D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7080" y="4947920"/>
            <a:ext cx="381000" cy="431800"/>
          </a:xfrm>
          <a:prstGeom prst="rect">
            <a:avLst/>
          </a:prstGeom>
          <a:noFill/>
        </p:spPr>
        <p:txBody>
          <a:bodyPr wrap="none">
            <a:spAutoFit/>
          </a:bodyPr>
          <a:lstStyle/>
          <a:p/>
          <a:p>
            <a:pPr algn="l"/>
            <a:r>
              <a:rPr sz="2800" b="0" i="0">
                <a:solidFill>
                  <a:srgbClr val="D97706"/>
                </a:solidFill>
                <a:latin typeface="Georgia"/>
              </a:rPr>
              <a:t>3</a:t>
            </a:r>
          </a:p>
        </p:txBody>
      </p:sp>
      <p:sp>
        <p:nvSpPr>
          <p:cNvPr id="19" name="TextBox 18"/>
          <p:cNvSpPr txBox="1"/>
          <p:nvPr/>
        </p:nvSpPr>
        <p:spPr>
          <a:xfrm>
            <a:off x="1198880" y="4947920"/>
            <a:ext cx="4434840" cy="254000"/>
          </a:xfrm>
          <a:prstGeom prst="rect">
            <a:avLst/>
          </a:prstGeom>
          <a:noFill/>
        </p:spPr>
        <p:txBody>
          <a:bodyPr wrap="none">
            <a:spAutoFit/>
          </a:bodyPr>
          <a:lstStyle/>
          <a:p/>
          <a:p>
            <a:pPr algn="l"/>
            <a:r>
              <a:rPr sz="1300" b="1" i="0">
                <a:solidFill>
                  <a:srgbClr val="0A0E20"/>
                </a:solidFill>
                <a:latin typeface="Calibri"/>
              </a:rPr>
              <a:t>Fill in 4 fields</a:t>
            </a:r>
          </a:p>
        </p:txBody>
      </p:sp>
      <p:sp>
        <p:nvSpPr>
          <p:cNvPr id="20" name="TextBox 19"/>
          <p:cNvSpPr txBox="1"/>
          <p:nvPr/>
        </p:nvSpPr>
        <p:spPr>
          <a:xfrm>
            <a:off x="1198880" y="5227320"/>
            <a:ext cx="4434840" cy="406400"/>
          </a:xfrm>
          <a:prstGeom prst="rect">
            <a:avLst/>
          </a:prstGeom>
          <a:noFill/>
        </p:spPr>
        <p:txBody>
          <a:bodyPr wrap="square">
            <a:spAutoFit/>
          </a:bodyPr>
          <a:lstStyle/>
          <a:p/>
          <a:p>
            <a:pPr algn="l"/>
            <a:r>
              <a:rPr sz="1100" b="0" i="0">
                <a:solidFill>
                  <a:srgbClr val="4E5B78"/>
                </a:solidFill>
                <a:latin typeface="Calibri"/>
              </a:rPr>
              <a:t>Replace each orange bracket with something real about you</a:t>
            </a:r>
          </a:p>
        </p:txBody>
      </p:sp>
      <p:sp>
        <p:nvSpPr>
          <p:cNvPr id="21" name="Rectangle 20"/>
          <p:cNvSpPr/>
          <p:nvPr/>
        </p:nvSpPr>
        <p:spPr>
          <a:xfrm>
            <a:off x="5888736" y="4846320"/>
            <a:ext cx="5120640" cy="1188720"/>
          </a:xfrm>
          <a:prstGeom prst="rect">
            <a:avLst/>
          </a:prstGeom>
          <a:solidFill>
            <a:srgbClr val="FFFFFF"/>
          </a:solidFill>
          <a:ln w="9525">
            <a:solidFill>
              <a:srgbClr val="C4D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15736" y="4947920"/>
            <a:ext cx="381000" cy="431800"/>
          </a:xfrm>
          <a:prstGeom prst="rect">
            <a:avLst/>
          </a:prstGeom>
          <a:noFill/>
        </p:spPr>
        <p:txBody>
          <a:bodyPr wrap="none">
            <a:spAutoFit/>
          </a:bodyPr>
          <a:lstStyle/>
          <a:p/>
          <a:p>
            <a:pPr algn="l"/>
            <a:r>
              <a:rPr sz="2800" b="0" i="0">
                <a:solidFill>
                  <a:srgbClr val="D97706"/>
                </a:solidFill>
                <a:latin typeface="Georgia"/>
              </a:rPr>
              <a:t>4</a:t>
            </a:r>
          </a:p>
        </p:txBody>
      </p:sp>
      <p:sp>
        <p:nvSpPr>
          <p:cNvPr id="23" name="TextBox 22"/>
          <p:cNvSpPr txBox="1"/>
          <p:nvPr/>
        </p:nvSpPr>
        <p:spPr>
          <a:xfrm>
            <a:off x="6447536" y="4947920"/>
            <a:ext cx="4434840" cy="254000"/>
          </a:xfrm>
          <a:prstGeom prst="rect">
            <a:avLst/>
          </a:prstGeom>
          <a:noFill/>
        </p:spPr>
        <p:txBody>
          <a:bodyPr wrap="none">
            <a:spAutoFit/>
          </a:bodyPr>
          <a:lstStyle/>
          <a:p/>
          <a:p>
            <a:pPr algn="l"/>
            <a:r>
              <a:rPr sz="1300" b="1" i="0">
                <a:solidFill>
                  <a:srgbClr val="0A0E20"/>
                </a:solidFill>
                <a:latin typeface="Calibri"/>
              </a:rPr>
              <a:t>Copy the HTML output</a:t>
            </a:r>
          </a:p>
        </p:txBody>
      </p:sp>
      <p:sp>
        <p:nvSpPr>
          <p:cNvPr id="24" name="TextBox 23"/>
          <p:cNvSpPr txBox="1"/>
          <p:nvPr/>
        </p:nvSpPr>
        <p:spPr>
          <a:xfrm>
            <a:off x="6447536" y="5227320"/>
            <a:ext cx="4434840" cy="406400"/>
          </a:xfrm>
          <a:prstGeom prst="rect">
            <a:avLst/>
          </a:prstGeom>
          <a:noFill/>
        </p:spPr>
        <p:txBody>
          <a:bodyPr wrap="square">
            <a:spAutoFit/>
          </a:bodyPr>
          <a:lstStyle/>
          <a:p/>
          <a:p>
            <a:pPr algn="l"/>
            <a:r>
              <a:rPr sz="1100" b="0" i="0">
                <a:solidFill>
                  <a:srgbClr val="4E5B78"/>
                </a:solidFill>
                <a:latin typeface="Calibri"/>
              </a:rPr>
              <a:t>Select all, copy -- that's your complete portfolio site</a:t>
            </a:r>
          </a:p>
        </p:txBody>
      </p:sp>
      <p:sp>
        <p:nvSpPr>
          <p:cNvPr id="25" name="TextBox 24"/>
          <p:cNvSpPr txBox="1"/>
          <p:nvPr/>
        </p:nvSpPr>
        <p:spPr>
          <a:xfrm>
            <a:off x="640080" y="6355080"/>
            <a:ext cx="7315200" cy="254000"/>
          </a:xfrm>
          <a:prstGeom prst="rect">
            <a:avLst/>
          </a:prstGeom>
          <a:noFill/>
        </p:spPr>
        <p:txBody>
          <a:bodyPr wrap="none">
            <a:spAutoFit/>
          </a:bodyPr>
          <a:lstStyle/>
          <a:p/>
          <a:p>
            <a:pPr algn="l"/>
            <a:r>
              <a:rPr sz="1100" b="1" i="0">
                <a:solidFill>
                  <a:srgbClr val="0055CC"/>
                </a:solidFill>
                <a:latin typeface="Calibri"/>
              </a:rPr>
              <a:t>Need help? Raise your hand -- SAP team members are here.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DF1FB"/>
        </a:solidFill>
        <a:effectLst/>
      </p:bgPr>
    </p:bg>
    <p:spTree>
      <p:nvGrpSpPr>
        <p:cNvPr id="1" name=""/>
        <p:cNvGrpSpPr/>
        <p:nvPr/>
      </p:nvGrpSpPr>
      <p:grpSpPr/>
      <p:sp>
        <p:nvSpPr>
          <p:cNvPr id="2" name="Rectangle 1"/>
          <p:cNvSpPr/>
          <p:nvPr/>
        </p:nvSpPr>
        <p:spPr>
          <a:xfrm>
            <a:off x="0" y="0"/>
            <a:ext cx="6094476" cy="50800"/>
          </a:xfrm>
          <a:prstGeom prst="rect">
            <a:avLst/>
          </a:prstGeom>
          <a:solidFill>
            <a:srgbClr val="0055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4476" y="0"/>
            <a:ext cx="6094476" cy="5080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10972800" cy="228600"/>
          </a:xfrm>
          <a:prstGeom prst="rect">
            <a:avLst/>
          </a:prstGeom>
          <a:noFill/>
        </p:spPr>
        <p:txBody>
          <a:bodyPr wrap="none">
            <a:spAutoFit/>
          </a:bodyPr>
          <a:lstStyle/>
          <a:p/>
          <a:p>
            <a:pPr algn="l"/>
            <a:r>
              <a:rPr sz="900" b="1" i="0">
                <a:solidFill>
                  <a:srgbClr val="0055CC"/>
                </a:solidFill>
                <a:latin typeface="Calibri"/>
              </a:rPr>
              <a:t>TAKE-HOME CHALLENGE</a:t>
            </a:r>
          </a:p>
        </p:txBody>
      </p:sp>
      <p:sp>
        <p:nvSpPr>
          <p:cNvPr id="5" name="TextBox 4"/>
          <p:cNvSpPr txBox="1"/>
          <p:nvPr/>
        </p:nvSpPr>
        <p:spPr>
          <a:xfrm>
            <a:off x="640080" y="777240"/>
            <a:ext cx="9144000" cy="1828800"/>
          </a:xfrm>
          <a:prstGeom prst="rect">
            <a:avLst/>
          </a:prstGeom>
          <a:noFill/>
        </p:spPr>
        <p:txBody>
          <a:bodyPr wrap="square">
            <a:spAutoFit/>
          </a:bodyPr>
          <a:lstStyle/>
          <a:p/>
          <a:p>
            <a:pPr algn="l"/>
            <a:r>
              <a:rPr sz="4000" b="0" i="0">
                <a:solidFill>
                  <a:srgbClr val="0A0E20"/>
                </a:solidFill>
                <a:latin typeface="Georgia"/>
              </a:rPr>
              <a:t>Your Portfolio Goes
Live Tonight</a:t>
            </a:r>
          </a:p>
        </p:txBody>
      </p:sp>
      <p:sp>
        <p:nvSpPr>
          <p:cNvPr id="6" name="Rectangle 5"/>
          <p:cNvSpPr/>
          <p:nvPr/>
        </p:nvSpPr>
        <p:spPr>
          <a:xfrm>
            <a:off x="640080" y="2148840"/>
            <a:ext cx="658368" cy="3810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286000"/>
            <a:ext cx="10972800" cy="594868"/>
          </a:xfrm>
          <a:prstGeom prst="rect">
            <a:avLst/>
          </a:prstGeom>
          <a:solidFill>
            <a:srgbClr val="FFFFFF"/>
          </a:solidFill>
          <a:ln w="9525">
            <a:solidFill>
              <a:srgbClr val="C4D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2387600"/>
            <a:ext cx="381000" cy="330200"/>
          </a:xfrm>
          <a:prstGeom prst="rect">
            <a:avLst/>
          </a:prstGeom>
          <a:noFill/>
        </p:spPr>
        <p:txBody>
          <a:bodyPr wrap="none">
            <a:spAutoFit/>
          </a:bodyPr>
          <a:lstStyle/>
          <a:p/>
          <a:p>
            <a:pPr algn="l"/>
            <a:r>
              <a:rPr sz="2200" b="0" i="0">
                <a:solidFill>
                  <a:srgbClr val="D97706"/>
                </a:solidFill>
                <a:latin typeface="Georgia"/>
              </a:rPr>
              <a:t>1</a:t>
            </a:r>
          </a:p>
        </p:txBody>
      </p:sp>
      <p:sp>
        <p:nvSpPr>
          <p:cNvPr id="9" name="TextBox 8"/>
          <p:cNvSpPr txBox="1"/>
          <p:nvPr/>
        </p:nvSpPr>
        <p:spPr>
          <a:xfrm>
            <a:off x="1097280" y="2387600"/>
            <a:ext cx="4754880" cy="254000"/>
          </a:xfrm>
          <a:prstGeom prst="rect">
            <a:avLst/>
          </a:prstGeom>
          <a:noFill/>
        </p:spPr>
        <p:txBody>
          <a:bodyPr wrap="none">
            <a:spAutoFit/>
          </a:bodyPr>
          <a:lstStyle/>
          <a:p/>
          <a:p>
            <a:pPr algn="l"/>
            <a:r>
              <a:rPr sz="1200" b="1" i="0">
                <a:solidFill>
                  <a:srgbClr val="0A0E20"/>
                </a:solidFill>
                <a:latin typeface="Calibri"/>
              </a:rPr>
              <a:t>Create a free GitHub account</a:t>
            </a:r>
          </a:p>
        </p:txBody>
      </p:sp>
      <p:sp>
        <p:nvSpPr>
          <p:cNvPr id="10" name="TextBox 9"/>
          <p:cNvSpPr txBox="1"/>
          <p:nvPr/>
        </p:nvSpPr>
        <p:spPr>
          <a:xfrm>
            <a:off x="5943600" y="2400300"/>
            <a:ext cx="5577840" cy="254000"/>
          </a:xfrm>
          <a:prstGeom prst="rect">
            <a:avLst/>
          </a:prstGeom>
          <a:noFill/>
        </p:spPr>
        <p:txBody>
          <a:bodyPr wrap="none">
            <a:spAutoFit/>
          </a:bodyPr>
          <a:lstStyle/>
          <a:p/>
          <a:p>
            <a:pPr algn="l"/>
            <a:r>
              <a:rPr sz="1100" b="0" i="0">
                <a:solidFill>
                  <a:srgbClr val="4E5B78"/>
                </a:solidFill>
                <a:latin typeface="Calibri"/>
              </a:rPr>
              <a:t>github.com -- takes 2 min, any email works</a:t>
            </a:r>
          </a:p>
        </p:txBody>
      </p:sp>
      <p:sp>
        <p:nvSpPr>
          <p:cNvPr id="11" name="Rectangle 10"/>
          <p:cNvSpPr/>
          <p:nvPr/>
        </p:nvSpPr>
        <p:spPr>
          <a:xfrm>
            <a:off x="640080" y="2944368"/>
            <a:ext cx="10972800" cy="594868"/>
          </a:xfrm>
          <a:prstGeom prst="rect">
            <a:avLst/>
          </a:prstGeom>
          <a:solidFill>
            <a:srgbClr val="FFFFFF"/>
          </a:solidFill>
          <a:ln w="9525">
            <a:solidFill>
              <a:srgbClr val="C4D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4944" y="3045968"/>
            <a:ext cx="381000" cy="330200"/>
          </a:xfrm>
          <a:prstGeom prst="rect">
            <a:avLst/>
          </a:prstGeom>
          <a:noFill/>
        </p:spPr>
        <p:txBody>
          <a:bodyPr wrap="none">
            <a:spAutoFit/>
          </a:bodyPr>
          <a:lstStyle/>
          <a:p/>
          <a:p>
            <a:pPr algn="l"/>
            <a:r>
              <a:rPr sz="2200" b="0" i="0">
                <a:solidFill>
                  <a:srgbClr val="D97706"/>
                </a:solidFill>
                <a:latin typeface="Georgia"/>
              </a:rPr>
              <a:t>2</a:t>
            </a:r>
          </a:p>
        </p:txBody>
      </p:sp>
      <p:sp>
        <p:nvSpPr>
          <p:cNvPr id="13" name="TextBox 12"/>
          <p:cNvSpPr txBox="1"/>
          <p:nvPr/>
        </p:nvSpPr>
        <p:spPr>
          <a:xfrm>
            <a:off x="1097280" y="3045968"/>
            <a:ext cx="4754880" cy="254000"/>
          </a:xfrm>
          <a:prstGeom prst="rect">
            <a:avLst/>
          </a:prstGeom>
          <a:noFill/>
        </p:spPr>
        <p:txBody>
          <a:bodyPr wrap="none">
            <a:spAutoFit/>
          </a:bodyPr>
          <a:lstStyle/>
          <a:p/>
          <a:p>
            <a:pPr algn="l"/>
            <a:r>
              <a:rPr sz="1200" b="1" i="0">
                <a:solidFill>
                  <a:srgbClr val="0A0E20"/>
                </a:solidFill>
                <a:latin typeface="Calibri"/>
              </a:rPr>
              <a:t>New repository -&gt; Public -&gt; Create</a:t>
            </a:r>
          </a:p>
        </p:txBody>
      </p:sp>
      <p:sp>
        <p:nvSpPr>
          <p:cNvPr id="14" name="TextBox 13"/>
          <p:cNvSpPr txBox="1"/>
          <p:nvPr/>
        </p:nvSpPr>
        <p:spPr>
          <a:xfrm>
            <a:off x="5943600" y="3058668"/>
            <a:ext cx="5577840" cy="254000"/>
          </a:xfrm>
          <a:prstGeom prst="rect">
            <a:avLst/>
          </a:prstGeom>
          <a:noFill/>
        </p:spPr>
        <p:txBody>
          <a:bodyPr wrap="none">
            <a:spAutoFit/>
          </a:bodyPr>
          <a:lstStyle/>
          <a:p/>
          <a:p>
            <a:pPr algn="l"/>
            <a:r>
              <a:rPr sz="1100" b="0" i="0">
                <a:solidFill>
                  <a:srgbClr val="4E5B78"/>
                </a:solidFill>
                <a:latin typeface="Calibri"/>
              </a:rPr>
              <a:t>Click + at top right to start</a:t>
            </a:r>
          </a:p>
        </p:txBody>
      </p:sp>
      <p:sp>
        <p:nvSpPr>
          <p:cNvPr id="15" name="Rectangle 14"/>
          <p:cNvSpPr/>
          <p:nvPr/>
        </p:nvSpPr>
        <p:spPr>
          <a:xfrm>
            <a:off x="640080" y="3602736"/>
            <a:ext cx="10972800" cy="594868"/>
          </a:xfrm>
          <a:prstGeom prst="rect">
            <a:avLst/>
          </a:prstGeom>
          <a:solidFill>
            <a:srgbClr val="FFFFFF"/>
          </a:solidFill>
          <a:ln w="9525">
            <a:solidFill>
              <a:srgbClr val="C4D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94944" y="3704336"/>
            <a:ext cx="381000" cy="330200"/>
          </a:xfrm>
          <a:prstGeom prst="rect">
            <a:avLst/>
          </a:prstGeom>
          <a:noFill/>
        </p:spPr>
        <p:txBody>
          <a:bodyPr wrap="none">
            <a:spAutoFit/>
          </a:bodyPr>
          <a:lstStyle/>
          <a:p/>
          <a:p>
            <a:pPr algn="l"/>
            <a:r>
              <a:rPr sz="2200" b="0" i="0">
                <a:solidFill>
                  <a:srgbClr val="D97706"/>
                </a:solidFill>
                <a:latin typeface="Georgia"/>
              </a:rPr>
              <a:t>3</a:t>
            </a:r>
          </a:p>
        </p:txBody>
      </p:sp>
      <p:sp>
        <p:nvSpPr>
          <p:cNvPr id="17" name="TextBox 16"/>
          <p:cNvSpPr txBox="1"/>
          <p:nvPr/>
        </p:nvSpPr>
        <p:spPr>
          <a:xfrm>
            <a:off x="1097280" y="3704336"/>
            <a:ext cx="4754880" cy="254000"/>
          </a:xfrm>
          <a:prstGeom prst="rect">
            <a:avLst/>
          </a:prstGeom>
          <a:noFill/>
        </p:spPr>
        <p:txBody>
          <a:bodyPr wrap="none">
            <a:spAutoFit/>
          </a:bodyPr>
          <a:lstStyle/>
          <a:p/>
          <a:p>
            <a:pPr algn="l"/>
            <a:r>
              <a:rPr sz="1200" b="1" i="0">
                <a:solidFill>
                  <a:srgbClr val="0A0E20"/>
                </a:solidFill>
                <a:latin typeface="Calibri"/>
              </a:rPr>
              <a:t>Add file -&gt; Create new file -&gt; index.html</a:t>
            </a:r>
          </a:p>
        </p:txBody>
      </p:sp>
      <p:sp>
        <p:nvSpPr>
          <p:cNvPr id="18" name="TextBox 17"/>
          <p:cNvSpPr txBox="1"/>
          <p:nvPr/>
        </p:nvSpPr>
        <p:spPr>
          <a:xfrm>
            <a:off x="5943600" y="3717036"/>
            <a:ext cx="5577840" cy="254000"/>
          </a:xfrm>
          <a:prstGeom prst="rect">
            <a:avLst/>
          </a:prstGeom>
          <a:noFill/>
        </p:spPr>
        <p:txBody>
          <a:bodyPr wrap="none">
            <a:spAutoFit/>
          </a:bodyPr>
          <a:lstStyle/>
          <a:p/>
          <a:p>
            <a:pPr algn="l"/>
            <a:r>
              <a:rPr sz="1100" b="0" i="0">
                <a:solidFill>
                  <a:srgbClr val="4E5B78"/>
                </a:solidFill>
                <a:latin typeface="Calibri"/>
              </a:rPr>
              <a:t>Name the file exactly 'index.html'</a:t>
            </a:r>
          </a:p>
        </p:txBody>
      </p:sp>
      <p:sp>
        <p:nvSpPr>
          <p:cNvPr id="19" name="Rectangle 18"/>
          <p:cNvSpPr/>
          <p:nvPr/>
        </p:nvSpPr>
        <p:spPr>
          <a:xfrm>
            <a:off x="640080" y="4261104"/>
            <a:ext cx="10972800" cy="594868"/>
          </a:xfrm>
          <a:prstGeom prst="rect">
            <a:avLst/>
          </a:prstGeom>
          <a:solidFill>
            <a:srgbClr val="FFFFFF"/>
          </a:solidFill>
          <a:ln w="9525">
            <a:solidFill>
              <a:srgbClr val="C4D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94944" y="4362704"/>
            <a:ext cx="381000" cy="330200"/>
          </a:xfrm>
          <a:prstGeom prst="rect">
            <a:avLst/>
          </a:prstGeom>
          <a:noFill/>
        </p:spPr>
        <p:txBody>
          <a:bodyPr wrap="none">
            <a:spAutoFit/>
          </a:bodyPr>
          <a:lstStyle/>
          <a:p/>
          <a:p>
            <a:pPr algn="l"/>
            <a:r>
              <a:rPr sz="2200" b="0" i="0">
                <a:solidFill>
                  <a:srgbClr val="D97706"/>
                </a:solidFill>
                <a:latin typeface="Georgia"/>
              </a:rPr>
              <a:t>4</a:t>
            </a:r>
          </a:p>
        </p:txBody>
      </p:sp>
      <p:sp>
        <p:nvSpPr>
          <p:cNvPr id="21" name="TextBox 20"/>
          <p:cNvSpPr txBox="1"/>
          <p:nvPr/>
        </p:nvSpPr>
        <p:spPr>
          <a:xfrm>
            <a:off x="1097280" y="4362704"/>
            <a:ext cx="4754880" cy="254000"/>
          </a:xfrm>
          <a:prstGeom prst="rect">
            <a:avLst/>
          </a:prstGeom>
          <a:noFill/>
        </p:spPr>
        <p:txBody>
          <a:bodyPr wrap="none">
            <a:spAutoFit/>
          </a:bodyPr>
          <a:lstStyle/>
          <a:p/>
          <a:p>
            <a:pPr algn="l"/>
            <a:r>
              <a:rPr sz="1200" b="1" i="0">
                <a:solidFill>
                  <a:srgbClr val="0A0E20"/>
                </a:solidFill>
                <a:latin typeface="Calibri"/>
              </a:rPr>
              <a:t>Paste your HTML from Gemini -&gt; Commit</a:t>
            </a:r>
          </a:p>
        </p:txBody>
      </p:sp>
      <p:sp>
        <p:nvSpPr>
          <p:cNvPr id="22" name="TextBox 21"/>
          <p:cNvSpPr txBox="1"/>
          <p:nvPr/>
        </p:nvSpPr>
        <p:spPr>
          <a:xfrm>
            <a:off x="5943600" y="4375404"/>
            <a:ext cx="5577840" cy="254000"/>
          </a:xfrm>
          <a:prstGeom prst="rect">
            <a:avLst/>
          </a:prstGeom>
          <a:noFill/>
        </p:spPr>
        <p:txBody>
          <a:bodyPr wrap="none">
            <a:spAutoFit/>
          </a:bodyPr>
          <a:lstStyle/>
          <a:p/>
          <a:p>
            <a:pPr algn="l"/>
            <a:r>
              <a:rPr sz="1100" b="0" i="0">
                <a:solidFill>
                  <a:srgbClr val="4E5B78"/>
                </a:solidFill>
                <a:latin typeface="Calibri"/>
              </a:rPr>
              <a:t>Paste everything, scroll down, click Commit changes</a:t>
            </a:r>
          </a:p>
        </p:txBody>
      </p:sp>
      <p:sp>
        <p:nvSpPr>
          <p:cNvPr id="23" name="Rectangle 22"/>
          <p:cNvSpPr/>
          <p:nvPr/>
        </p:nvSpPr>
        <p:spPr>
          <a:xfrm>
            <a:off x="640080" y="4919472"/>
            <a:ext cx="10972800" cy="594868"/>
          </a:xfrm>
          <a:prstGeom prst="rect">
            <a:avLst/>
          </a:prstGeom>
          <a:solidFill>
            <a:srgbClr val="ECFFF2"/>
          </a:solidFill>
          <a:ln w="9525">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4944" y="5021072"/>
            <a:ext cx="381000" cy="330200"/>
          </a:xfrm>
          <a:prstGeom prst="rect">
            <a:avLst/>
          </a:prstGeom>
          <a:noFill/>
        </p:spPr>
        <p:txBody>
          <a:bodyPr wrap="none">
            <a:spAutoFit/>
          </a:bodyPr>
          <a:lstStyle/>
          <a:p/>
          <a:p>
            <a:pPr algn="l"/>
            <a:r>
              <a:rPr sz="2200" b="0" i="0">
                <a:solidFill>
                  <a:srgbClr val="16A34A"/>
                </a:solidFill>
                <a:latin typeface="Georgia"/>
              </a:rPr>
              <a:t>5</a:t>
            </a:r>
          </a:p>
        </p:txBody>
      </p:sp>
      <p:sp>
        <p:nvSpPr>
          <p:cNvPr id="25" name="TextBox 24"/>
          <p:cNvSpPr txBox="1"/>
          <p:nvPr/>
        </p:nvSpPr>
        <p:spPr>
          <a:xfrm>
            <a:off x="1097280" y="5021072"/>
            <a:ext cx="4754880" cy="254000"/>
          </a:xfrm>
          <a:prstGeom prst="rect">
            <a:avLst/>
          </a:prstGeom>
          <a:noFill/>
        </p:spPr>
        <p:txBody>
          <a:bodyPr wrap="none">
            <a:spAutoFit/>
          </a:bodyPr>
          <a:lstStyle/>
          <a:p/>
          <a:p>
            <a:pPr algn="l"/>
            <a:r>
              <a:rPr sz="1200" b="1" i="0">
                <a:solidFill>
                  <a:srgbClr val="0A0E20"/>
                </a:solidFill>
                <a:latin typeface="Calibri"/>
              </a:rPr>
              <a:t>Settings -&gt; Pages -&gt; Source: main -&gt; Save</a:t>
            </a:r>
          </a:p>
        </p:txBody>
      </p:sp>
      <p:sp>
        <p:nvSpPr>
          <p:cNvPr id="26" name="TextBox 25"/>
          <p:cNvSpPr txBox="1"/>
          <p:nvPr/>
        </p:nvSpPr>
        <p:spPr>
          <a:xfrm>
            <a:off x="5943600" y="5033772"/>
            <a:ext cx="5577840" cy="254000"/>
          </a:xfrm>
          <a:prstGeom prst="rect">
            <a:avLst/>
          </a:prstGeom>
          <a:noFill/>
        </p:spPr>
        <p:txBody>
          <a:bodyPr wrap="none">
            <a:spAutoFit/>
          </a:bodyPr>
          <a:lstStyle/>
          <a:p/>
          <a:p>
            <a:pPr algn="l"/>
            <a:r>
              <a:rPr sz="1100" b="0" i="0">
                <a:solidFill>
                  <a:srgbClr val="4E5B78"/>
                </a:solidFill>
                <a:latin typeface="Calibri"/>
              </a:rPr>
              <a:t>Wait ~60 seconds -- then visit your URL</a:t>
            </a:r>
          </a:p>
        </p:txBody>
      </p:sp>
      <p:sp>
        <p:nvSpPr>
          <p:cNvPr id="27" name="Rectangle 26"/>
          <p:cNvSpPr/>
          <p:nvPr/>
        </p:nvSpPr>
        <p:spPr>
          <a:xfrm>
            <a:off x="640080" y="5628640"/>
            <a:ext cx="10972800" cy="381000"/>
          </a:xfrm>
          <a:prstGeom prst="rect">
            <a:avLst/>
          </a:prstGeom>
          <a:solidFill>
            <a:srgbClr val="ECFFF2"/>
          </a:solidFill>
          <a:ln w="9525">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5666740"/>
            <a:ext cx="1097280" cy="279400"/>
          </a:xfrm>
          <a:prstGeom prst="rect">
            <a:avLst/>
          </a:prstGeom>
          <a:noFill/>
        </p:spPr>
        <p:txBody>
          <a:bodyPr wrap="none">
            <a:spAutoFit/>
          </a:bodyPr>
          <a:lstStyle/>
          <a:p/>
          <a:p>
            <a:pPr algn="l"/>
            <a:r>
              <a:rPr sz="900" b="1" i="0">
                <a:solidFill>
                  <a:srgbClr val="16A34A"/>
                </a:solidFill>
                <a:latin typeface="Calibri"/>
              </a:rPr>
              <a:t>YOUR URL</a:t>
            </a:r>
          </a:p>
        </p:txBody>
      </p:sp>
      <p:sp>
        <p:nvSpPr>
          <p:cNvPr id="29" name="TextBox 28"/>
          <p:cNvSpPr txBox="1"/>
          <p:nvPr/>
        </p:nvSpPr>
        <p:spPr>
          <a:xfrm>
            <a:off x="1920240" y="5654040"/>
            <a:ext cx="9144000" cy="304800"/>
          </a:xfrm>
          <a:prstGeom prst="rect">
            <a:avLst/>
          </a:prstGeom>
          <a:noFill/>
        </p:spPr>
        <p:txBody>
          <a:bodyPr wrap="none">
            <a:spAutoFit/>
          </a:bodyPr>
          <a:lstStyle/>
          <a:p/>
          <a:p>
            <a:pPr algn="l"/>
            <a:r>
              <a:rPr sz="1400" b="0" i="0">
                <a:solidFill>
                  <a:srgbClr val="0A0E20"/>
                </a:solidFill>
                <a:latin typeface="Courier New"/>
              </a:rPr>
              <a:t>yourname.github.io / your-repo-name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F1FB"/>
        </a:solidFill>
        <a:effectLst/>
      </p:bgPr>
    </p:bg>
    <p:spTree>
      <p:nvGrpSpPr>
        <p:cNvPr id="1" name=""/>
        <p:cNvGrpSpPr/>
        <p:nvPr/>
      </p:nvGrpSpPr>
      <p:grpSpPr/>
      <p:sp>
        <p:nvSpPr>
          <p:cNvPr id="2" name="Rectangle 1"/>
          <p:cNvSpPr/>
          <p:nvPr/>
        </p:nvSpPr>
        <p:spPr>
          <a:xfrm>
            <a:off x="0" y="0"/>
            <a:ext cx="6094476" cy="50800"/>
          </a:xfrm>
          <a:prstGeom prst="rect">
            <a:avLst/>
          </a:prstGeom>
          <a:solidFill>
            <a:srgbClr val="0055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4476" y="0"/>
            <a:ext cx="6094476" cy="5080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807200"/>
            <a:ext cx="12188952" cy="5080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63040"/>
            <a:ext cx="9144000" cy="2926080"/>
          </a:xfrm>
          <a:prstGeom prst="rect">
            <a:avLst/>
          </a:prstGeom>
          <a:noFill/>
        </p:spPr>
        <p:txBody>
          <a:bodyPr wrap="square">
            <a:spAutoFit/>
          </a:bodyPr>
          <a:lstStyle/>
          <a:p/>
          <a:p>
            <a:pPr algn="l"/>
            <a:r>
              <a:rPr sz="7600" b="0" i="0">
                <a:solidFill>
                  <a:srgbClr val="0A0E20"/>
                </a:solidFill>
                <a:latin typeface="Georgia"/>
              </a:rPr>
              <a:t>You just used AI</a:t>
            </a:r>
          </a:p>
          <a:p>
            <a:pPr algn="l"/>
            <a:r>
              <a:rPr sz="7600" b="0" i="0">
                <a:solidFill>
                  <a:srgbClr val="D97706"/>
                </a:solidFill>
                <a:latin typeface="Georgia"/>
              </a:rPr>
              <a:t>like a professional.</a:t>
            </a:r>
          </a:p>
        </p:txBody>
      </p:sp>
      <p:sp>
        <p:nvSpPr>
          <p:cNvPr id="6" name="Rectangle 5"/>
          <p:cNvSpPr/>
          <p:nvPr/>
        </p:nvSpPr>
        <p:spPr>
          <a:xfrm>
            <a:off x="640080" y="4663440"/>
            <a:ext cx="658368" cy="3810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4892040"/>
            <a:ext cx="8229600" cy="822960"/>
          </a:xfrm>
          <a:prstGeom prst="rect">
            <a:avLst/>
          </a:prstGeom>
          <a:noFill/>
        </p:spPr>
        <p:txBody>
          <a:bodyPr wrap="square">
            <a:spAutoFit/>
          </a:bodyPr>
          <a:lstStyle/>
          <a:p/>
          <a:p>
            <a:pPr algn="l"/>
            <a:r>
              <a:rPr sz="1600" b="0" i="0">
                <a:solidFill>
                  <a:srgbClr val="4E5B78"/>
                </a:solidFill>
                <a:latin typeface="Calibri"/>
              </a:rPr>
              <a:t>The real skill isn't coding. It's knowing what to ask, how to judge the output, and when to trust it -- and when not to. That judgment is what every employer is looking for.</a:t>
            </a:r>
          </a:p>
        </p:txBody>
      </p:sp>
      <p:sp>
        <p:nvSpPr>
          <p:cNvPr id="8" name="TextBox 7"/>
          <p:cNvSpPr txBox="1"/>
          <p:nvPr/>
        </p:nvSpPr>
        <p:spPr>
          <a:xfrm>
            <a:off x="640080" y="5943600"/>
            <a:ext cx="5486400" cy="279400"/>
          </a:xfrm>
          <a:prstGeom prst="rect">
            <a:avLst/>
          </a:prstGeom>
          <a:noFill/>
        </p:spPr>
        <p:txBody>
          <a:bodyPr wrap="none">
            <a:spAutoFit/>
          </a:bodyPr>
          <a:lstStyle/>
          <a:p/>
          <a:p>
            <a:pPr algn="l"/>
            <a:r>
              <a:rPr sz="1300" b="0" i="0">
                <a:solidFill>
                  <a:srgbClr val="D97706"/>
                </a:solidFill>
                <a:latin typeface="Courier New"/>
              </a:rPr>
              <a:t>-&gt; github.com/neilgbp/ai-portfolio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